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71" r:id="rId3"/>
    <p:sldId id="259" r:id="rId4"/>
    <p:sldId id="270" r:id="rId5"/>
    <p:sldId id="269" r:id="rId6"/>
    <p:sldId id="264" r:id="rId7"/>
    <p:sldId id="265" r:id="rId8"/>
    <p:sldId id="262" r:id="rId9"/>
    <p:sldId id="263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0" d="100"/>
          <a:sy n="140" d="100"/>
        </p:scale>
        <p:origin x="7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9648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E42A0-06A7-386F-6F54-E3832EB06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1EF46A-2AB4-A3DC-F8D5-007CC5DDDE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D71D08-4112-802C-C202-30BD38277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2D1A0-58C9-9D93-918C-C2BDB028BC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183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7D562-67B0-3B25-A582-6B642B440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A6F4FF-4DCD-F0D8-4D3F-FCB5059FE9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FEA248-1FCE-E571-81A1-18FC97B25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24D0B-23BE-7ACC-A3D7-8F04330EFB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24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C0958-5E17-5EBE-AAA9-109C0747E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D2A301-F715-FF54-61AC-7A2FE281D7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C59895-FEA0-E6FF-BBF8-A40E8AA6C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24E3A-0823-87E5-415C-9922D0ACD9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407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jpe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A2F7E99-7515-957B-9675-FABCB576FA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93" b="16458"/>
          <a:stretch>
            <a:fillRect/>
          </a:stretch>
        </p:blipFill>
        <p:spPr>
          <a:xfrm>
            <a:off x="320164" y="326693"/>
            <a:ext cx="8503671" cy="46082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9720D-8595-9445-5653-7C5463E98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7F19395-E3C6-F27F-CE21-53C33205A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648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D75DDEE-6070-E32B-540B-8CC8E94800D1}"/>
              </a:ext>
            </a:extLst>
          </p:cNvPr>
          <p:cNvSpPr/>
          <p:nvPr/>
        </p:nvSpPr>
        <p:spPr>
          <a:xfrm>
            <a:off x="571500" y="428625"/>
            <a:ext cx="8572500" cy="37702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dirty="0">
                <a:latin typeface="Arial Black" panose="020B0A04020102020204" pitchFamily="34" charset="0"/>
              </a:rPr>
              <a:t>PROBLEM DEFINITION	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990053FE-4ACD-6D49-517A-1910F556A4F9}"/>
              </a:ext>
            </a:extLst>
          </p:cNvPr>
          <p:cNvSpPr/>
          <p:nvPr/>
        </p:nvSpPr>
        <p:spPr>
          <a:xfrm>
            <a:off x="571499" y="1178718"/>
            <a:ext cx="3929063" cy="1479369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/>
            </a:solidFill>
            <a:prstDash val="solid"/>
          </a:ln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C4C5A92C-4A22-B02E-7AD2-DC995909FBF4}"/>
              </a:ext>
            </a:extLst>
          </p:cNvPr>
          <p:cNvSpPr/>
          <p:nvPr/>
        </p:nvSpPr>
        <p:spPr>
          <a:xfrm>
            <a:off x="571499" y="1178718"/>
            <a:ext cx="3929063" cy="30003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971E48F-F8C4-E7B4-18D7-F12F4058F189}"/>
              </a:ext>
            </a:extLst>
          </p:cNvPr>
          <p:cNvSpPr/>
          <p:nvPr/>
        </p:nvSpPr>
        <p:spPr>
          <a:xfrm>
            <a:off x="571499" y="1178718"/>
            <a:ext cx="3929063" cy="264688"/>
          </a:xfrm>
          <a:prstGeom prst="rect">
            <a:avLst/>
          </a:prstGeom>
          <a:noFill/>
          <a:ln/>
        </p:spPr>
        <p:txBody>
          <a:bodyPr wrap="square" lIns="170053" tIns="102108" rIns="0" bIns="0" rtlCol="0" anchor="t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  <a:latin typeface="Arial Black" panose="020B0A04020102020204" pitchFamily="34" charset="0"/>
              </a:rPr>
              <a:t>Before (Reactive Maintenance):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0CBE2ED-4DDF-6FD4-1AB2-2A7785A558D1}"/>
              </a:ext>
            </a:extLst>
          </p:cNvPr>
          <p:cNvSpPr/>
          <p:nvPr/>
        </p:nvSpPr>
        <p:spPr>
          <a:xfrm>
            <a:off x="885824" y="1564481"/>
            <a:ext cx="1803797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1000" dirty="0">
              <a:latin typeface="Arial Black" panose="020B0A04020102020204" pitchFamily="34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7A49755E-6E03-1127-1DBC-753A42EB889C}"/>
              </a:ext>
            </a:extLst>
          </p:cNvPr>
          <p:cNvSpPr/>
          <p:nvPr/>
        </p:nvSpPr>
        <p:spPr>
          <a:xfrm>
            <a:off x="685799" y="1725243"/>
            <a:ext cx="3700463" cy="303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850" dirty="0">
                <a:solidFill>
                  <a:srgbClr val="64748B"/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Equipment runs → Suddenly breaks → Emergency repair → Production stops → Loses money</a:t>
            </a:r>
            <a:endParaRPr lang="en-US" sz="850" dirty="0">
              <a:latin typeface="Arial Black" panose="020B0A04020102020204" pitchFamily="34" charset="0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39C05024-D50B-2147-4C23-6243B5EACD67}"/>
              </a:ext>
            </a:extLst>
          </p:cNvPr>
          <p:cNvSpPr/>
          <p:nvPr/>
        </p:nvSpPr>
        <p:spPr>
          <a:xfrm>
            <a:off x="4643437" y="1178718"/>
            <a:ext cx="3929063" cy="1479369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/>
            </a:solidFill>
            <a:prstDash val="solid"/>
          </a:ln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6D30A9DB-9D03-B145-D001-6ED70A2D664E}"/>
              </a:ext>
            </a:extLst>
          </p:cNvPr>
          <p:cNvSpPr/>
          <p:nvPr/>
        </p:nvSpPr>
        <p:spPr>
          <a:xfrm>
            <a:off x="4643437" y="1178718"/>
            <a:ext cx="3929063" cy="30003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E3236AFE-7BE6-7B04-0364-A04FC408A099}"/>
              </a:ext>
            </a:extLst>
          </p:cNvPr>
          <p:cNvSpPr/>
          <p:nvPr/>
        </p:nvSpPr>
        <p:spPr>
          <a:xfrm>
            <a:off x="4643437" y="1178718"/>
            <a:ext cx="3929063" cy="264688"/>
          </a:xfrm>
          <a:prstGeom prst="rect">
            <a:avLst/>
          </a:prstGeom>
          <a:noFill/>
          <a:ln/>
        </p:spPr>
        <p:txBody>
          <a:bodyPr wrap="square" lIns="170053" tIns="102108" rIns="0" bIns="0" rtlCol="0" anchor="t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  <a:latin typeface="Arial Black" panose="020B0A04020102020204" pitchFamily="34" charset="0"/>
              </a:rPr>
              <a:t>After (Predictive Maintenance):</a:t>
            </a: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3AEC53C9-DE0C-CED8-4ABD-8AD3B4642DBA}"/>
              </a:ext>
            </a:extLst>
          </p:cNvPr>
          <p:cNvSpPr/>
          <p:nvPr/>
        </p:nvSpPr>
        <p:spPr>
          <a:xfrm>
            <a:off x="4757737" y="1740935"/>
            <a:ext cx="3700463" cy="303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850" dirty="0">
                <a:solidFill>
                  <a:srgbClr val="64748B"/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Equipment runs → Sensors detect warning signs → Predict failure → Schedule maintenance → No surprise downtime	</a:t>
            </a:r>
            <a:endParaRPr lang="en-US" sz="850" dirty="0">
              <a:latin typeface="Arial Black" panose="020B0A04020102020204" pitchFamily="34" charset="0"/>
            </a:endParaRPr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CA016C49-DB95-0188-CCCE-1836A8ADBC0C}"/>
              </a:ext>
            </a:extLst>
          </p:cNvPr>
          <p:cNvSpPr/>
          <p:nvPr/>
        </p:nvSpPr>
        <p:spPr>
          <a:xfrm>
            <a:off x="571497" y="3085732"/>
            <a:ext cx="3929063" cy="1228725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B52E35C1-6407-A12C-93D4-9152681A93CD}"/>
              </a:ext>
            </a:extLst>
          </p:cNvPr>
          <p:cNvSpPr/>
          <p:nvPr/>
        </p:nvSpPr>
        <p:spPr>
          <a:xfrm>
            <a:off x="571498" y="2789386"/>
            <a:ext cx="3929063" cy="30003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  <a:latin typeface="Arial Black" panose="020B0A04020102020204" pitchFamily="34" charset="0"/>
              </a:rPr>
              <a:t>Goal</a:t>
            </a: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DE1EA0E2-32FF-84D4-A79F-DF1BD22946B9}"/>
              </a:ext>
            </a:extLst>
          </p:cNvPr>
          <p:cNvSpPr/>
          <p:nvPr/>
        </p:nvSpPr>
        <p:spPr>
          <a:xfrm>
            <a:off x="571499" y="2536031"/>
            <a:ext cx="3929063" cy="241605"/>
          </a:xfrm>
          <a:prstGeom prst="rect">
            <a:avLst/>
          </a:prstGeom>
          <a:noFill/>
          <a:ln/>
        </p:spPr>
        <p:txBody>
          <a:bodyPr wrap="square" lIns="170053" tIns="102108" rIns="0" bIns="0" rtlCol="0" anchor="t">
            <a:spAutoFit/>
          </a:bodyPr>
          <a:lstStyle/>
          <a:p>
            <a:pPr marL="0" indent="0" algn="l">
              <a:buNone/>
            </a:pPr>
            <a:endParaRPr lang="en-US" sz="900" dirty="0">
              <a:latin typeface="Arial Black" panose="020B0A04020102020204" pitchFamily="34" charset="0"/>
            </a:endParaRPr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64B065EC-AAAC-0D24-059C-DB971A087BA5}"/>
              </a:ext>
            </a:extLst>
          </p:cNvPr>
          <p:cNvSpPr/>
          <p:nvPr/>
        </p:nvSpPr>
        <p:spPr>
          <a:xfrm>
            <a:off x="901897" y="2921793"/>
            <a:ext cx="1944886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1000" dirty="0">
              <a:latin typeface="Arial Black" panose="020B0A04020102020204" pitchFamily="34" charset="0"/>
            </a:endParaRP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C58906EC-51FB-9300-9AE0-A04E05CD4EBE}"/>
              </a:ext>
            </a:extLst>
          </p:cNvPr>
          <p:cNvSpPr/>
          <p:nvPr/>
        </p:nvSpPr>
        <p:spPr>
          <a:xfrm>
            <a:off x="685799" y="3152179"/>
            <a:ext cx="3700463" cy="146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 lang="en-US" sz="850" dirty="0">
              <a:latin typeface="Arial Black" panose="020B0A04020102020204" pitchFamily="34" charset="0"/>
            </a:endParaRP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3F7055AF-6205-DE21-1DEE-4BF748A178C3}"/>
              </a:ext>
            </a:extLst>
          </p:cNvPr>
          <p:cNvSpPr/>
          <p:nvPr/>
        </p:nvSpPr>
        <p:spPr>
          <a:xfrm>
            <a:off x="4643437" y="2536031"/>
            <a:ext cx="3929063" cy="241605"/>
          </a:xfrm>
          <a:prstGeom prst="rect">
            <a:avLst/>
          </a:prstGeom>
          <a:noFill/>
          <a:ln/>
        </p:spPr>
        <p:txBody>
          <a:bodyPr wrap="square" lIns="170053" tIns="102108" rIns="0" bIns="0" rtlCol="0" anchor="t">
            <a:spAutoFit/>
          </a:bodyPr>
          <a:lstStyle/>
          <a:p>
            <a:pPr marL="0" indent="0" algn="l">
              <a:buNone/>
            </a:pPr>
            <a:endParaRPr lang="en-US" sz="900" dirty="0">
              <a:latin typeface="Arial Black" panose="020B0A04020102020204" pitchFamily="34" charset="0"/>
            </a:endParaRPr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B07FBC87-3355-B91F-8ECF-925CEBA81610}"/>
              </a:ext>
            </a:extLst>
          </p:cNvPr>
          <p:cNvSpPr/>
          <p:nvPr/>
        </p:nvSpPr>
        <p:spPr>
          <a:xfrm>
            <a:off x="4925615" y="2921793"/>
            <a:ext cx="6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1000" dirty="0">
              <a:latin typeface="Arial Black" panose="020B0A04020102020204" pitchFamily="34" charset="0"/>
            </a:endParaRP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EF027977-BB48-B524-5CC5-07061F502F9A}"/>
              </a:ext>
            </a:extLst>
          </p:cNvPr>
          <p:cNvSpPr/>
          <p:nvPr/>
        </p:nvSpPr>
        <p:spPr>
          <a:xfrm>
            <a:off x="4757737" y="3152179"/>
            <a:ext cx="3700463" cy="146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 lang="en-US" sz="850" dirty="0">
              <a:latin typeface="Arial Black" panose="020B0A04020102020204" pitchFamily="34" charset="0"/>
            </a:endParaRPr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5FD8E4F6-CB11-EBC4-1413-CA7618C7127C}"/>
              </a:ext>
            </a:extLst>
          </p:cNvPr>
          <p:cNvSpPr/>
          <p:nvPr/>
        </p:nvSpPr>
        <p:spPr>
          <a:xfrm>
            <a:off x="571499" y="3893343"/>
            <a:ext cx="8001000" cy="3893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7F032DD5-C620-4E3A-A5F7-C1DC41045C40}"/>
              </a:ext>
            </a:extLst>
          </p:cNvPr>
          <p:cNvSpPr/>
          <p:nvPr/>
        </p:nvSpPr>
        <p:spPr>
          <a:xfrm>
            <a:off x="571499" y="3893343"/>
            <a:ext cx="8001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B5598200-77F5-E043-5B0D-63B2F6183B9D}"/>
              </a:ext>
            </a:extLst>
          </p:cNvPr>
          <p:cNvSpPr/>
          <p:nvPr/>
        </p:nvSpPr>
        <p:spPr>
          <a:xfrm>
            <a:off x="685796" y="3339289"/>
            <a:ext cx="3700463" cy="692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</a:rPr>
              <a:t>Build an integrated predictive maintenance system that uses machine learning on unified sensor data to predict equipment failures 24-48 hours in advance, enabling proactive maintenance that reduces unplanned downtime by 50% and maintenance costs by 30%.</a:t>
            </a:r>
            <a:endParaRPr lang="en-US" sz="900" b="1" dirty="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203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915400" cy="37702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93B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MULTI-SOURCE INDUSTRIAL DATASET</a:t>
            </a:r>
            <a:endParaRPr lang="en-US" sz="2400" b="1" dirty="0">
              <a:latin typeface="Arial Black" panose="020B0A040201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28625" y="1693069"/>
            <a:ext cx="1964531" cy="3172358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28625" y="1432125"/>
            <a:ext cx="1964531" cy="71437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1782169"/>
            <a:ext cx="1964531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AI4I 2020</a:t>
            </a:r>
            <a:endParaRPr lang="en-US" sz="900" dirty="0">
              <a:latin typeface="Arial Black" panose="020B0A04020102020204" pitchFamily="3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016" y="2387601"/>
            <a:ext cx="285750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1500" y="2777575"/>
            <a:ext cx="1678781" cy="1088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Synthetic dataset representing predictive maintenance in a digital twin environment.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en-US" sz="850" dirty="0">
              <a:solidFill>
                <a:srgbClr val="64748B"/>
              </a:solidFill>
              <a:latin typeface="Arial Black" panose="020B0A04020102020204" pitchFamily="34" charset="0"/>
              <a:ea typeface="Inter Light" pitchFamily="34" charset="-122"/>
              <a:cs typeface="Inter Light" pitchFamily="34" charset="-12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sz="850" dirty="0">
              <a:solidFill>
                <a:srgbClr val="64748B"/>
              </a:solidFill>
              <a:latin typeface="Arial Black" panose="020B0A04020102020204" pitchFamily="34" charset="0"/>
              <a:ea typeface="Inter Light" pitchFamily="3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sz="850" dirty="0">
              <a:latin typeface="Arial Black" panose="020B0A04020102020204" pitchFamily="34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1045666" y="3507384"/>
            <a:ext cx="730448" cy="14108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6"/>
          <p:cNvSpPr/>
          <p:nvPr/>
        </p:nvSpPr>
        <p:spPr>
          <a:xfrm>
            <a:off x="1022803" y="3507384"/>
            <a:ext cx="776175" cy="135293"/>
          </a:xfrm>
          <a:prstGeom prst="rect">
            <a:avLst/>
          </a:prstGeom>
          <a:noFill/>
          <a:ln/>
        </p:spPr>
        <p:txBody>
          <a:bodyPr wrap="none" lIns="85090" tIns="42545" rIns="8509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  <a:latin typeface="Arial Black" panose="020B0A04020102020204" pitchFamily="34" charset="0"/>
                <a:ea typeface="Inter SemiBold" pitchFamily="34" charset="-122"/>
                <a:cs typeface="Inter SemiBold" pitchFamily="34" charset="-120"/>
              </a:rPr>
              <a:t>DIGITAL TWIN</a:t>
            </a:r>
            <a:endParaRPr lang="en-US" sz="600" dirty="0">
              <a:latin typeface="Arial Black" panose="020B0A04020102020204" pitchFamily="34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2536031" y="1693069"/>
            <a:ext cx="1964531" cy="3172358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536031" y="1432125"/>
            <a:ext cx="1964531" cy="71437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2536031" y="1782169"/>
            <a:ext cx="1964531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SCANIA COMPONENT X</a:t>
            </a:r>
            <a:endParaRPr lang="en-US" sz="900" dirty="0">
              <a:latin typeface="Arial Black" panose="020B0A04020102020204" pitchFamily="34" charset="0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9703" y="2387601"/>
            <a:ext cx="357188" cy="285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678906" y="2850159"/>
            <a:ext cx="1678781" cy="4603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Real-world data from heavy trucks focusing on air pressure system failures.</a:t>
            </a:r>
            <a:endParaRPr lang="en-US" sz="850" dirty="0">
              <a:latin typeface="Arial Black" panose="020B0A04020102020204" pitchFamily="34" charset="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3155752" y="3507384"/>
            <a:ext cx="725091" cy="14108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2"/>
          <p:cNvSpPr/>
          <p:nvPr/>
        </p:nvSpPr>
        <p:spPr>
          <a:xfrm>
            <a:off x="3141432" y="3507384"/>
            <a:ext cx="753732" cy="135293"/>
          </a:xfrm>
          <a:prstGeom prst="rect">
            <a:avLst/>
          </a:prstGeom>
          <a:noFill/>
          <a:ln/>
        </p:spPr>
        <p:txBody>
          <a:bodyPr wrap="none" lIns="85090" tIns="42545" rIns="8509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  <a:latin typeface="Arial Black" panose="020B0A04020102020204" pitchFamily="34" charset="0"/>
                <a:ea typeface="Inter SemiBold" pitchFamily="34" charset="-122"/>
                <a:cs typeface="Inter SemiBold" pitchFamily="34" charset="-120"/>
              </a:rPr>
              <a:t>AUTOMOTIVE</a:t>
            </a:r>
            <a:endParaRPr lang="en-US" sz="600" dirty="0">
              <a:latin typeface="Arial Black" panose="020B0A04020102020204" pitchFamily="34" charset="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643438" y="1693069"/>
            <a:ext cx="1964531" cy="3172358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643438" y="1432125"/>
            <a:ext cx="1964531" cy="71437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5"/>
          <p:cNvSpPr/>
          <p:nvPr/>
        </p:nvSpPr>
        <p:spPr>
          <a:xfrm>
            <a:off x="4643438" y="1782169"/>
            <a:ext cx="1964531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METROPT-3</a:t>
            </a:r>
            <a:endParaRPr lang="en-US" sz="900" dirty="0">
              <a:latin typeface="Arial Black" panose="020B0A04020102020204" pitchFamily="34" charset="0"/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0688" y="2387601"/>
            <a:ext cx="250031" cy="2857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86313" y="2850159"/>
            <a:ext cx="1678781" cy="4603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High-frequency sensor data from railway compressor systems.</a:t>
            </a:r>
            <a:endParaRPr lang="en-US" sz="850" dirty="0">
              <a:latin typeface="Arial Black" panose="020B0A04020102020204" pitchFamily="34" charset="0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5160466" y="3507384"/>
            <a:ext cx="930473" cy="14108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18"/>
          <p:cNvSpPr/>
          <p:nvPr/>
        </p:nvSpPr>
        <p:spPr>
          <a:xfrm>
            <a:off x="5137428" y="3507384"/>
            <a:ext cx="976549" cy="135293"/>
          </a:xfrm>
          <a:prstGeom prst="rect">
            <a:avLst/>
          </a:prstGeom>
          <a:noFill/>
          <a:ln/>
        </p:spPr>
        <p:txBody>
          <a:bodyPr wrap="none" lIns="85090" tIns="42545" rIns="8509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  <a:latin typeface="Arial Black" panose="020B0A04020102020204" pitchFamily="34" charset="0"/>
                <a:ea typeface="Inter SemiBold" pitchFamily="34" charset="-122"/>
                <a:cs typeface="Inter SemiBold" pitchFamily="34" charset="-120"/>
              </a:rPr>
              <a:t>TRANSPORTATION</a:t>
            </a:r>
            <a:endParaRPr lang="en-US" sz="600" dirty="0">
              <a:latin typeface="Arial Black" panose="020B0A04020102020204" pitchFamily="34" charset="0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6750844" y="1693069"/>
            <a:ext cx="1964531" cy="3172358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750844" y="1432125"/>
            <a:ext cx="1964531" cy="71437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1"/>
          <p:cNvSpPr/>
          <p:nvPr/>
        </p:nvSpPr>
        <p:spPr>
          <a:xfrm>
            <a:off x="6750844" y="1782169"/>
            <a:ext cx="1964531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INDUSTRIAL PUMP</a:t>
            </a:r>
            <a:endParaRPr lang="en-US" sz="900" dirty="0">
              <a:latin typeface="Arial Black" panose="020B0A04020102020204" pitchFamily="34" charset="0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6893719" y="2850159"/>
            <a:ext cx="1678781" cy="4603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Specialized sensor readings for hydraulic pump health monitoring.</a:t>
            </a:r>
            <a:endParaRPr lang="en-US" sz="850" dirty="0">
              <a:latin typeface="Arial Black" panose="020B0A04020102020204" pitchFamily="34" charset="0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7383959" y="3507384"/>
            <a:ext cx="698302" cy="14108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Text 24"/>
          <p:cNvSpPr/>
          <p:nvPr/>
        </p:nvSpPr>
        <p:spPr>
          <a:xfrm>
            <a:off x="7365862" y="3507384"/>
            <a:ext cx="734496" cy="135293"/>
          </a:xfrm>
          <a:prstGeom prst="rect">
            <a:avLst/>
          </a:prstGeom>
          <a:noFill/>
          <a:ln/>
        </p:spPr>
        <p:txBody>
          <a:bodyPr wrap="none" lIns="85090" tIns="42545" rIns="8509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  <a:latin typeface="Arial Black" panose="020B0A04020102020204" pitchFamily="34" charset="0"/>
                <a:ea typeface="Inter SemiBold" pitchFamily="34" charset="-122"/>
                <a:cs typeface="Inter SemiBold" pitchFamily="34" charset="-120"/>
              </a:rPr>
              <a:t>HYDRAULICS</a:t>
            </a:r>
            <a:endParaRPr lang="en-US" sz="600" dirty="0">
              <a:latin typeface="Arial Black" panose="020B0A04020102020204" pitchFamily="34" charset="0"/>
            </a:endParaRPr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4CD85546-38F2-8624-B5B0-0C9560E8606D}"/>
              </a:ext>
            </a:extLst>
          </p:cNvPr>
          <p:cNvSpPr/>
          <p:nvPr/>
        </p:nvSpPr>
        <p:spPr>
          <a:xfrm>
            <a:off x="514350" y="3720296"/>
            <a:ext cx="1678781" cy="1559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10,000 Row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14 Col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Labeled (5)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Class imbalance (3% failure)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1 machine</a:t>
            </a:r>
          </a:p>
          <a:p>
            <a:pPr marL="0" indent="0" algn="ctr">
              <a:lnSpc>
                <a:spcPct val="120000"/>
              </a:lnSpc>
              <a:buNone/>
            </a:pPr>
            <a:endParaRPr lang="en-US" sz="850" dirty="0">
              <a:solidFill>
                <a:schemeClr val="bg2">
                  <a:lumMod val="50000"/>
                </a:schemeClr>
              </a:solidFill>
              <a:latin typeface="Arial Black" panose="020B0A04020102020204" pitchFamily="34" charset="0"/>
              <a:ea typeface="Inter Light" pitchFamily="34" charset="-122"/>
              <a:cs typeface="Inter Light" pitchFamily="34" charset="-12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sz="850" dirty="0">
              <a:solidFill>
                <a:schemeClr val="bg2">
                  <a:lumMod val="50000"/>
                </a:schemeClr>
              </a:solidFill>
              <a:latin typeface="Arial Black" panose="020B0A04020102020204" pitchFamily="34" charset="0"/>
              <a:ea typeface="Inter Light" pitchFamily="34" charset="-122"/>
              <a:cs typeface="Inter Light" pitchFamily="34" charset="-12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sz="850" dirty="0">
              <a:solidFill>
                <a:schemeClr val="bg2">
                  <a:lumMod val="50000"/>
                </a:schemeClr>
              </a:solidFill>
              <a:latin typeface="Arial Black" panose="020B0A04020102020204" pitchFamily="34" charset="0"/>
              <a:ea typeface="Inter Light" pitchFamily="3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sz="850" dirty="0">
              <a:solidFill>
                <a:schemeClr val="bg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CC1F5332-DA49-66A5-7E65-15FB19AC3C76}"/>
              </a:ext>
            </a:extLst>
          </p:cNvPr>
          <p:cNvSpPr/>
          <p:nvPr/>
        </p:nvSpPr>
        <p:spPr>
          <a:xfrm>
            <a:off x="2678906" y="3720295"/>
            <a:ext cx="1678781" cy="1125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1,122,452</a:t>
            </a:r>
            <a:r>
              <a:rPr lang="en-US" sz="85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 Row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107</a:t>
            </a:r>
            <a:r>
              <a:rPr lang="en-US" sz="85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 Col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Labeled binary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23,550 vehicles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Relative time (</a:t>
            </a:r>
            <a:r>
              <a:rPr lang="en-US" sz="900" dirty="0" err="1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time_step</a:t>
            </a:r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)</a:t>
            </a:r>
            <a:endParaRPr lang="en-US" sz="850" dirty="0">
              <a:solidFill>
                <a:schemeClr val="bg2">
                  <a:lumMod val="50000"/>
                </a:schemeClr>
              </a:solidFill>
              <a:latin typeface="Arial Black" panose="020B0A04020102020204" pitchFamily="34" charset="0"/>
              <a:ea typeface="Inter Light" pitchFamily="34" charset="-122"/>
              <a:cs typeface="Inter Light" pitchFamily="34" charset="-12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sz="850" dirty="0">
              <a:solidFill>
                <a:schemeClr val="bg2">
                  <a:lumMod val="50000"/>
                </a:schemeClr>
              </a:solidFill>
              <a:latin typeface="Arial Black" panose="020B0A04020102020204" pitchFamily="34" charset="0"/>
              <a:ea typeface="Inter Light" pitchFamily="3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sz="850" dirty="0">
              <a:solidFill>
                <a:schemeClr val="bg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DC18B5D9-43F3-5429-2DEC-67BC43948895}"/>
              </a:ext>
            </a:extLst>
          </p:cNvPr>
          <p:cNvSpPr/>
          <p:nvPr/>
        </p:nvSpPr>
        <p:spPr>
          <a:xfrm>
            <a:off x="4786311" y="3704905"/>
            <a:ext cx="1678781" cy="1439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1,516,948</a:t>
            </a:r>
            <a:r>
              <a:rPr lang="en-US" sz="85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 Row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17 Col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Weakly </a:t>
            </a:r>
            <a:r>
              <a:rPr lang="en-US" sz="850" dirty="0" err="1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labled</a:t>
            </a:r>
            <a:endParaRPr lang="en-US" sz="850" dirty="0">
              <a:solidFill>
                <a:schemeClr val="bg2">
                  <a:lumMod val="50000"/>
                </a:schemeClr>
              </a:solidFill>
              <a:latin typeface="Arial Black" panose="020B0A04020102020204" pitchFamily="34" charset="0"/>
              <a:ea typeface="Inter Light" pitchFamily="34" charset="-122"/>
              <a:cs typeface="Inter Light" pitchFamily="34" charset="-120"/>
            </a:endParaRP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6 months (2020)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1 compressor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0.1 Hz (10 seconds)</a:t>
            </a:r>
            <a:endParaRPr lang="en-US" sz="850" dirty="0">
              <a:solidFill>
                <a:schemeClr val="bg2">
                  <a:lumMod val="50000"/>
                </a:schemeClr>
              </a:solidFill>
              <a:latin typeface="Arial Black" panose="020B0A04020102020204" pitchFamily="34" charset="0"/>
              <a:ea typeface="Inter Light" pitchFamily="34" charset="-122"/>
              <a:cs typeface="Inter Light" pitchFamily="34" charset="-12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sz="850" dirty="0">
              <a:solidFill>
                <a:schemeClr val="bg2">
                  <a:lumMod val="50000"/>
                </a:schemeClr>
              </a:solidFill>
              <a:latin typeface="Arial Black" panose="020B0A04020102020204" pitchFamily="34" charset="0"/>
              <a:ea typeface="Inter Light" pitchFamily="34" charset="-122"/>
              <a:cs typeface="Inter Light" pitchFamily="34" charset="-12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sz="850" dirty="0">
              <a:solidFill>
                <a:schemeClr val="bg2">
                  <a:lumMod val="50000"/>
                </a:schemeClr>
              </a:solidFill>
              <a:latin typeface="Arial Black" panose="020B0A04020102020204" pitchFamily="34" charset="0"/>
              <a:ea typeface="Inter Light" pitchFamily="3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sz="850" dirty="0">
              <a:solidFill>
                <a:schemeClr val="bg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99990108-10D8-3B42-3E1E-A067D2C7F56C}"/>
              </a:ext>
            </a:extLst>
          </p:cNvPr>
          <p:cNvSpPr/>
          <p:nvPr/>
        </p:nvSpPr>
        <p:spPr>
          <a:xfrm>
            <a:off x="6893717" y="3720296"/>
            <a:ext cx="1678781" cy="1439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900" dirty="0"/>
              <a:t>20,000</a:t>
            </a:r>
            <a:r>
              <a:rPr lang="en-US" sz="85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 Row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8 Col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Labeled binary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2024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5 pumps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1 min</a:t>
            </a:r>
            <a:endParaRPr lang="en-US" sz="850" dirty="0">
              <a:solidFill>
                <a:schemeClr val="bg2">
                  <a:lumMod val="50000"/>
                </a:schemeClr>
              </a:solidFill>
              <a:latin typeface="Arial Black" panose="020B0A04020102020204" pitchFamily="34" charset="0"/>
              <a:ea typeface="Inter Light" pitchFamily="34" charset="-122"/>
              <a:cs typeface="Inter Light" pitchFamily="34" charset="-12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sz="850" dirty="0">
              <a:solidFill>
                <a:schemeClr val="bg2">
                  <a:lumMod val="50000"/>
                </a:schemeClr>
              </a:solidFill>
              <a:latin typeface="Arial Black" panose="020B0A04020102020204" pitchFamily="34" charset="0"/>
              <a:ea typeface="Inter Light" pitchFamily="34" charset="-122"/>
              <a:cs typeface="Inter Light" pitchFamily="34" charset="-12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sz="850" dirty="0">
              <a:solidFill>
                <a:schemeClr val="bg2">
                  <a:lumMod val="50000"/>
                </a:schemeClr>
              </a:solidFill>
              <a:latin typeface="Arial Black" panose="020B0A04020102020204" pitchFamily="34" charset="0"/>
              <a:ea typeface="Inter Light" pitchFamily="3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sz="850" dirty="0">
              <a:solidFill>
                <a:schemeClr val="bg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2F348-E8C7-8D5A-A5F1-E6A7FB6B5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01EDB77-2700-2791-85F0-53326C368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5ACF849-D614-3C1E-1EA9-61E8629EF186}"/>
              </a:ext>
            </a:extLst>
          </p:cNvPr>
          <p:cNvSpPr/>
          <p:nvPr/>
        </p:nvSpPr>
        <p:spPr>
          <a:xfrm>
            <a:off x="571500" y="428625"/>
            <a:ext cx="8572500" cy="75405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E293B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DATA CHARACTERISTICS
AND COMPLEXITY</a:t>
            </a:r>
            <a:endParaRPr lang="en-US" sz="2450" b="1" dirty="0">
              <a:latin typeface="Arial Black" panose="020B0A04020102020204" pitchFamily="34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C788E7AF-491E-4AA2-33C9-255547768C45}"/>
              </a:ext>
            </a:extLst>
          </p:cNvPr>
          <p:cNvSpPr/>
          <p:nvPr/>
        </p:nvSpPr>
        <p:spPr>
          <a:xfrm>
            <a:off x="571500" y="1693069"/>
            <a:ext cx="2163524" cy="3014663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/>
            </a:solidFill>
            <a:prstDash val="solid"/>
          </a:ln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0D2058E3-1A30-55DF-E554-7D5DCBB33DF1}"/>
              </a:ext>
            </a:extLst>
          </p:cNvPr>
          <p:cNvSpPr/>
          <p:nvPr/>
        </p:nvSpPr>
        <p:spPr>
          <a:xfrm>
            <a:off x="571500" y="1693069"/>
            <a:ext cx="2163524" cy="3571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426116E-0A90-2E6C-AC93-BE8B864E7D31}"/>
              </a:ext>
            </a:extLst>
          </p:cNvPr>
          <p:cNvSpPr/>
          <p:nvPr/>
        </p:nvSpPr>
        <p:spPr>
          <a:xfrm>
            <a:off x="571500" y="1693069"/>
            <a:ext cx="2163524" cy="267253"/>
          </a:xfrm>
          <a:prstGeom prst="rect">
            <a:avLst/>
          </a:prstGeom>
          <a:noFill/>
          <a:ln/>
        </p:spPr>
        <p:txBody>
          <a:bodyPr wrap="square" lIns="170053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DATASET SCALE</a:t>
            </a:r>
            <a:endParaRPr lang="en-US" sz="900" dirty="0">
              <a:latin typeface="Arial Black" panose="020B0A04020102020204" pitchFamily="34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5882694-FFFD-A3DE-C249-C83FA3DD07A3}"/>
              </a:ext>
            </a:extLst>
          </p:cNvPr>
          <p:cNvSpPr/>
          <p:nvPr/>
        </p:nvSpPr>
        <p:spPr>
          <a:xfrm>
            <a:off x="750094" y="2228850"/>
            <a:ext cx="1806336" cy="323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59669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2.7M</a:t>
            </a:r>
            <a:endParaRPr lang="en-US" sz="2100" dirty="0">
              <a:latin typeface="Arial Black" panose="020B0A04020102020204" pitchFamily="34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2E6C322-CCA2-49E0-52A3-5306DD2A81D0}"/>
              </a:ext>
            </a:extLst>
          </p:cNvPr>
          <p:cNvSpPr/>
          <p:nvPr/>
        </p:nvSpPr>
        <p:spPr>
          <a:xfrm>
            <a:off x="750094" y="2666405"/>
            <a:ext cx="1806336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Arial Black" panose="020B0A04020102020204" pitchFamily="34" charset="0"/>
                <a:ea typeface="Inter SemiBold" pitchFamily="34" charset="-122"/>
                <a:cs typeface="Inter SemiBold" pitchFamily="34" charset="-120"/>
              </a:rPr>
              <a:t>TOTAL SAMPLES</a:t>
            </a:r>
            <a:endParaRPr lang="en-US" sz="900" dirty="0">
              <a:latin typeface="Arial Black" panose="020B0A04020102020204" pitchFamily="34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4AEF13E-A054-07D2-FA64-D23D2FED986F}"/>
              </a:ext>
            </a:extLst>
          </p:cNvPr>
          <p:cNvSpPr/>
          <p:nvPr/>
        </p:nvSpPr>
        <p:spPr>
          <a:xfrm>
            <a:off x="750094" y="2964656"/>
            <a:ext cx="1806336" cy="489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Multivariate time-series data collected across diverse industrial environments.</a:t>
            </a:r>
            <a:endParaRPr lang="en-US" sz="850" dirty="0">
              <a:latin typeface="Arial Black" panose="020B0A04020102020204" pitchFamily="34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855FF1F-FCF2-9A67-E148-EB6D5020F3E1}"/>
              </a:ext>
            </a:extLst>
          </p:cNvPr>
          <p:cNvSpPr/>
          <p:nvPr/>
        </p:nvSpPr>
        <p:spPr>
          <a:xfrm>
            <a:off x="750094" y="3727559"/>
            <a:ext cx="1806336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Arial Black" panose="020B0A04020102020204" pitchFamily="34" charset="0"/>
                <a:ea typeface="Inter SemiBold" pitchFamily="34" charset="-122"/>
                <a:cs typeface="Inter SemiBold" pitchFamily="34" charset="-120"/>
              </a:rPr>
              <a:t>Sampling Rate:</a:t>
            </a:r>
            <a:endParaRPr lang="en-US" sz="800" dirty="0">
              <a:latin typeface="Arial Black" panose="020B0A04020102020204" pitchFamily="34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A602E19-9B32-506C-6962-2E3E17FCD672}"/>
              </a:ext>
            </a:extLst>
          </p:cNvPr>
          <p:cNvSpPr/>
          <p:nvPr/>
        </p:nvSpPr>
        <p:spPr>
          <a:xfrm>
            <a:off x="750094" y="3965088"/>
            <a:ext cx="1806336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Seconds → Minutes → Hours</a:t>
            </a:r>
            <a:endParaRPr lang="en-US" sz="750" dirty="0">
              <a:latin typeface="Arial Black" panose="020B0A04020102020204" pitchFamily="34" charset="0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C8CF86C4-8C27-02A2-F09A-E458357D2CF6}"/>
              </a:ext>
            </a:extLst>
          </p:cNvPr>
          <p:cNvSpPr/>
          <p:nvPr/>
        </p:nvSpPr>
        <p:spPr>
          <a:xfrm>
            <a:off x="2949336" y="1693069"/>
            <a:ext cx="3245300" cy="3014663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/>
            </a:solidFill>
            <a:prstDash val="solid"/>
          </a:ln>
        </p:spPr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4D0E98E0-27AE-3478-D017-AAC13A118F6B}"/>
              </a:ext>
            </a:extLst>
          </p:cNvPr>
          <p:cNvSpPr/>
          <p:nvPr/>
        </p:nvSpPr>
        <p:spPr>
          <a:xfrm>
            <a:off x="2949336" y="1693069"/>
            <a:ext cx="3245300" cy="3571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A7E63DF0-A572-A89F-28F8-9215F07555D8}"/>
              </a:ext>
            </a:extLst>
          </p:cNvPr>
          <p:cNvSpPr/>
          <p:nvPr/>
        </p:nvSpPr>
        <p:spPr>
          <a:xfrm>
            <a:off x="2949336" y="1693069"/>
            <a:ext cx="3245300" cy="267253"/>
          </a:xfrm>
          <a:prstGeom prst="rect">
            <a:avLst/>
          </a:prstGeom>
          <a:noFill/>
          <a:ln/>
        </p:spPr>
        <p:txBody>
          <a:bodyPr wrap="square" lIns="170053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KEY FEATURES &amp; SENSORS</a:t>
            </a:r>
            <a:endParaRPr lang="en-US" sz="900" dirty="0">
              <a:latin typeface="Arial Black" panose="020B0A04020102020204" pitchFamily="34" charset="0"/>
            </a:endParaRPr>
          </a:p>
        </p:txBody>
      </p:sp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104678BD-E330-A65E-4BAD-7012A54E2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3680" y="2427982"/>
            <a:ext cx="214313" cy="128588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8487D274-9017-86B2-1EE1-099A7018F3CE}"/>
              </a:ext>
            </a:extLst>
          </p:cNvPr>
          <p:cNvSpPr/>
          <p:nvPr/>
        </p:nvSpPr>
        <p:spPr>
          <a:xfrm>
            <a:off x="3627993" y="2414588"/>
            <a:ext cx="864019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Temperature</a:t>
            </a:r>
            <a:endParaRPr lang="en-US" sz="950" dirty="0">
              <a:latin typeface="Arial Black" panose="020B0A04020102020204" pitchFamily="34" charset="0"/>
            </a:endParaRPr>
          </a:p>
        </p:txBody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3884DE75-9E29-2F70-3B69-C8A69C0F05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3680" y="2661940"/>
            <a:ext cx="214313" cy="128588"/>
          </a:xfrm>
          <a:prstGeom prst="rect">
            <a:avLst/>
          </a:prstGeom>
        </p:spPr>
      </p:pic>
      <p:sp>
        <p:nvSpPr>
          <p:cNvPr id="18" name="Text 13">
            <a:extLst>
              <a:ext uri="{FF2B5EF4-FFF2-40B4-BE49-F238E27FC236}">
                <a16:creationId xmlns:a16="http://schemas.microsoft.com/office/drawing/2014/main" id="{7EAE22BB-B0F5-AF27-37B5-22F0A1EFBD6C}"/>
              </a:ext>
            </a:extLst>
          </p:cNvPr>
          <p:cNvSpPr/>
          <p:nvPr/>
        </p:nvSpPr>
        <p:spPr>
          <a:xfrm>
            <a:off x="3627993" y="2648545"/>
            <a:ext cx="589905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Pressure</a:t>
            </a:r>
            <a:endParaRPr lang="en-US" sz="950" dirty="0">
              <a:latin typeface="Arial Black" panose="020B0A04020102020204" pitchFamily="34" charset="0"/>
            </a:endParaRPr>
          </a:p>
        </p:txBody>
      </p:sp>
      <p:pic>
        <p:nvPicPr>
          <p:cNvPr id="19" name="Image 3" descr="preencoded.png">
            <a:extLst>
              <a:ext uri="{FF2B5EF4-FFF2-40B4-BE49-F238E27FC236}">
                <a16:creationId xmlns:a16="http://schemas.microsoft.com/office/drawing/2014/main" id="{38D81F62-C095-6432-DA74-DEB8CF1A12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3680" y="2895898"/>
            <a:ext cx="214313" cy="128588"/>
          </a:xfrm>
          <a:prstGeom prst="rect">
            <a:avLst/>
          </a:prstGeom>
        </p:spPr>
      </p:pic>
      <p:sp>
        <p:nvSpPr>
          <p:cNvPr id="20" name="Text 14">
            <a:extLst>
              <a:ext uri="{FF2B5EF4-FFF2-40B4-BE49-F238E27FC236}">
                <a16:creationId xmlns:a16="http://schemas.microsoft.com/office/drawing/2014/main" id="{36B3EC05-ABC7-3E8B-938F-3B0155B9241D}"/>
              </a:ext>
            </a:extLst>
          </p:cNvPr>
          <p:cNvSpPr/>
          <p:nvPr/>
        </p:nvSpPr>
        <p:spPr>
          <a:xfrm>
            <a:off x="3627993" y="2882503"/>
            <a:ext cx="610745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Vibration</a:t>
            </a:r>
            <a:endParaRPr lang="en-US" sz="950" dirty="0">
              <a:latin typeface="Arial Black" panose="020B0A04020102020204" pitchFamily="34" charset="0"/>
            </a:endParaRP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1B5A189D-25CA-23EF-3C4A-9C6BEB345D2B}"/>
              </a:ext>
            </a:extLst>
          </p:cNvPr>
          <p:cNvSpPr/>
          <p:nvPr/>
        </p:nvSpPr>
        <p:spPr>
          <a:xfrm>
            <a:off x="3627993" y="3116461"/>
            <a:ext cx="956993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Torque &amp; RPM</a:t>
            </a:r>
            <a:endParaRPr lang="en-US" sz="950" dirty="0">
              <a:latin typeface="Arial Black" panose="020B0A04020102020204" pitchFamily="34" charset="0"/>
            </a:endParaRPr>
          </a:p>
        </p:txBody>
      </p:sp>
      <p:pic>
        <p:nvPicPr>
          <p:cNvPr id="22" name="Image 4" descr="preencoded.png">
            <a:extLst>
              <a:ext uri="{FF2B5EF4-FFF2-40B4-BE49-F238E27FC236}">
                <a16:creationId xmlns:a16="http://schemas.microsoft.com/office/drawing/2014/main" id="{65DCAACF-1E4A-463C-C51D-C476120DB1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3680" y="3363813"/>
            <a:ext cx="214313" cy="128588"/>
          </a:xfrm>
          <a:prstGeom prst="rect">
            <a:avLst/>
          </a:prstGeom>
        </p:spPr>
      </p:pic>
      <p:sp>
        <p:nvSpPr>
          <p:cNvPr id="23" name="Text 16">
            <a:extLst>
              <a:ext uri="{FF2B5EF4-FFF2-40B4-BE49-F238E27FC236}">
                <a16:creationId xmlns:a16="http://schemas.microsoft.com/office/drawing/2014/main" id="{6BF2362C-94FD-0205-43C2-E3549AF4653D}"/>
              </a:ext>
            </a:extLst>
          </p:cNvPr>
          <p:cNvSpPr/>
          <p:nvPr/>
        </p:nvSpPr>
        <p:spPr>
          <a:xfrm>
            <a:off x="3627993" y="3350419"/>
            <a:ext cx="1171796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Electrical Signals</a:t>
            </a:r>
            <a:endParaRPr lang="en-US" sz="950" dirty="0">
              <a:latin typeface="Arial Black" panose="020B0A04020102020204" pitchFamily="34" charset="0"/>
            </a:endParaRPr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BD55F95A-5CDD-6916-C82C-BD8B5A6AB764}"/>
              </a:ext>
            </a:extLst>
          </p:cNvPr>
          <p:cNvSpPr/>
          <p:nvPr/>
        </p:nvSpPr>
        <p:spPr>
          <a:xfrm>
            <a:off x="3127930" y="3655814"/>
            <a:ext cx="2888112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Mixed numerical and categorical data types.</a:t>
            </a:r>
            <a:endParaRPr lang="en-US" sz="800" dirty="0">
              <a:latin typeface="Arial Black" panose="020B0A04020102020204" pitchFamily="34" charset="0"/>
            </a:endParaRPr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A2527E98-0973-FF09-E41F-DD8DB8102082}"/>
              </a:ext>
            </a:extLst>
          </p:cNvPr>
          <p:cNvSpPr/>
          <p:nvPr/>
        </p:nvSpPr>
        <p:spPr>
          <a:xfrm>
            <a:off x="6408948" y="1693069"/>
            <a:ext cx="2163552" cy="3014663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/>
            </a:solidFill>
            <a:prstDash val="solid"/>
          </a:ln>
        </p:spPr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509E55FD-9F3D-3B1C-3A58-C49502A5D085}"/>
              </a:ext>
            </a:extLst>
          </p:cNvPr>
          <p:cNvSpPr/>
          <p:nvPr/>
        </p:nvSpPr>
        <p:spPr>
          <a:xfrm>
            <a:off x="6408948" y="1693069"/>
            <a:ext cx="2163552" cy="3571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29E02E09-7357-8352-FD01-9CD901980586}"/>
              </a:ext>
            </a:extLst>
          </p:cNvPr>
          <p:cNvSpPr/>
          <p:nvPr/>
        </p:nvSpPr>
        <p:spPr>
          <a:xfrm>
            <a:off x="6408948" y="1693069"/>
            <a:ext cx="2163552" cy="267253"/>
          </a:xfrm>
          <a:prstGeom prst="rect">
            <a:avLst/>
          </a:prstGeom>
          <a:noFill/>
          <a:ln/>
        </p:spPr>
        <p:txBody>
          <a:bodyPr wrap="square" lIns="170053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UNIFIED LABELS</a:t>
            </a:r>
            <a:endParaRPr lang="en-US" sz="900" dirty="0">
              <a:latin typeface="Arial Black" panose="020B0A04020102020204" pitchFamily="34" charset="0"/>
            </a:endParaRPr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81937D5F-0447-76BB-0874-043305F97975}"/>
              </a:ext>
            </a:extLst>
          </p:cNvPr>
          <p:cNvSpPr/>
          <p:nvPr/>
        </p:nvSpPr>
        <p:spPr>
          <a:xfrm>
            <a:off x="6701842" y="2471738"/>
            <a:ext cx="1577764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Arial Black" panose="020B0A04020102020204" pitchFamily="34" charset="0"/>
                <a:ea typeface="Inter SemiBold" pitchFamily="34" charset="-122"/>
                <a:cs typeface="Inter SemiBold" pitchFamily="34" charset="-120"/>
              </a:rPr>
              <a:t>NORMAL</a:t>
            </a:r>
            <a:endParaRPr lang="en-US" sz="800" dirty="0">
              <a:latin typeface="Arial Black" panose="020B0A04020102020204" pitchFamily="34" charset="0"/>
            </a:endParaRPr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ABA3F50E-857D-6284-774B-EC1E9228FA94}"/>
              </a:ext>
            </a:extLst>
          </p:cNvPr>
          <p:cNvSpPr/>
          <p:nvPr/>
        </p:nvSpPr>
        <p:spPr>
          <a:xfrm>
            <a:off x="6701842" y="2859286"/>
            <a:ext cx="1577764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Arial Black" panose="020B0A04020102020204" pitchFamily="34" charset="0"/>
                <a:ea typeface="Inter SemiBold" pitchFamily="34" charset="-122"/>
                <a:cs typeface="Inter SemiBold" pitchFamily="34" charset="-120"/>
              </a:rPr>
              <a:t>MAINTENANCE</a:t>
            </a:r>
            <a:endParaRPr lang="en-US" sz="800" dirty="0">
              <a:latin typeface="Arial Black" panose="020B0A04020102020204" pitchFamily="34" charset="0"/>
            </a:endParaRPr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2E7A1750-8E18-77FB-F608-6FCDF92D3D80}"/>
              </a:ext>
            </a:extLst>
          </p:cNvPr>
          <p:cNvSpPr/>
          <p:nvPr/>
        </p:nvSpPr>
        <p:spPr>
          <a:xfrm>
            <a:off x="6701842" y="3246834"/>
            <a:ext cx="1577764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Arial Black" panose="020B0A04020102020204" pitchFamily="34" charset="0"/>
                <a:ea typeface="Inter SemiBold" pitchFamily="34" charset="-122"/>
                <a:cs typeface="Inter SemiBold" pitchFamily="34" charset="-120"/>
              </a:rPr>
              <a:t>FAILURE</a:t>
            </a:r>
            <a:endParaRPr lang="en-US" sz="800" dirty="0">
              <a:latin typeface="Arial Black" panose="020B0A04020102020204" pitchFamily="34" charset="0"/>
            </a:endParaRPr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208D25D6-EE69-C92B-FC11-EDB3FFA49ECB}"/>
              </a:ext>
            </a:extLst>
          </p:cNvPr>
          <p:cNvSpPr/>
          <p:nvPr/>
        </p:nvSpPr>
        <p:spPr>
          <a:xfrm>
            <a:off x="6587542" y="3570089"/>
            <a:ext cx="1806364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Standardized target variables for multi-class classification.</a:t>
            </a:r>
            <a:endParaRPr lang="en-US" sz="75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727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F4936-3D37-A8FF-6E85-F32D74D82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E24859B-6609-8808-AE7D-718EA3FFB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2F96B29-EFD7-B5F1-E213-78D45AF1E2F5}"/>
              </a:ext>
            </a:extLst>
          </p:cNvPr>
          <p:cNvSpPr/>
          <p:nvPr/>
        </p:nvSpPr>
        <p:spPr>
          <a:xfrm>
            <a:off x="571500" y="428625"/>
            <a:ext cx="8572500" cy="37702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dirty="0">
                <a:solidFill>
                  <a:srgbClr val="1E293B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DATA WAREHOUSE ARCHITECTURE</a:t>
            </a:r>
            <a:endParaRPr lang="en-US" sz="2450" dirty="0">
              <a:latin typeface="Arial Black" panose="020B0A04020102020204" pitchFamily="34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7331AD-5FF3-8FD5-D789-32870433C323}"/>
              </a:ext>
            </a:extLst>
          </p:cNvPr>
          <p:cNvSpPr/>
          <p:nvPr/>
        </p:nvSpPr>
        <p:spPr>
          <a:xfrm>
            <a:off x="571500" y="1693069"/>
            <a:ext cx="3857625" cy="282641"/>
          </a:xfrm>
          <a:prstGeom prst="rect">
            <a:avLst/>
          </a:prstGeom>
          <a:noFill/>
          <a:ln/>
        </p:spPr>
        <p:txBody>
          <a:bodyPr wrap="square" lIns="170053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THE CHALLENGE: HETEROGENEITY</a:t>
            </a:r>
            <a:endParaRPr lang="en-US" sz="1000" dirty="0">
              <a:latin typeface="Arial Black" panose="020B0A04020102020204" pitchFamily="34" charset="0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9C032284-D64C-CCF0-4545-05E42560269D}"/>
              </a:ext>
            </a:extLst>
          </p:cNvPr>
          <p:cNvSpPr/>
          <p:nvPr/>
        </p:nvSpPr>
        <p:spPr>
          <a:xfrm>
            <a:off x="4714875" y="1693069"/>
            <a:ext cx="3857625" cy="282641"/>
          </a:xfrm>
          <a:prstGeom prst="rect">
            <a:avLst/>
          </a:prstGeom>
          <a:noFill/>
          <a:ln/>
        </p:spPr>
        <p:txBody>
          <a:bodyPr wrap="square" lIns="170053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THE SOLUTION: UNIFIED DWH</a:t>
            </a:r>
            <a:endParaRPr lang="en-US" sz="1000" dirty="0">
              <a:latin typeface="Arial Black" panose="020B0A04020102020204" pitchFamily="34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20BB841-FD02-3473-8F62-F88BA9D8D9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1484"/>
          <a:stretch>
            <a:fillRect/>
          </a:stretch>
        </p:blipFill>
        <p:spPr>
          <a:xfrm>
            <a:off x="451722" y="1375371"/>
            <a:ext cx="3728814" cy="256791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B32C409-3087-B1A6-B5C7-49661DE49ED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4060"/>
          <a:stretch>
            <a:fillRect/>
          </a:stretch>
        </p:blipFill>
        <p:spPr>
          <a:xfrm>
            <a:off x="4429125" y="1375371"/>
            <a:ext cx="3857624" cy="257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347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9659" y="360649"/>
            <a:ext cx="4635810" cy="37702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dirty="0">
                <a:solidFill>
                  <a:srgbClr val="1E293B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GALAXY SCHEMA DESIGN</a:t>
            </a:r>
            <a:endParaRPr lang="en-US" sz="2450" dirty="0">
              <a:latin typeface="Arial Black" panose="020B0A040201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129658" y="1132284"/>
            <a:ext cx="3857625" cy="3228975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9658" y="1132284"/>
            <a:ext cx="3857625" cy="3571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129658" y="1132284"/>
            <a:ext cx="3857625" cy="267253"/>
          </a:xfrm>
          <a:prstGeom prst="rect">
            <a:avLst/>
          </a:prstGeom>
          <a:noFill/>
          <a:ln/>
        </p:spPr>
        <p:txBody>
          <a:bodyPr wrap="square" lIns="170053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WAREHOUSE STRUCTURE</a:t>
            </a:r>
            <a:endParaRPr lang="en-US" sz="900" dirty="0">
              <a:latin typeface="Arial Black" panose="020B0A040201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08251" y="1668066"/>
            <a:ext cx="3560889" cy="374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Centralized storage for multi-source industrial sensor data.</a:t>
            </a:r>
            <a:endParaRPr lang="en-US" sz="1050" dirty="0">
              <a:latin typeface="Arial Black" panose="020B0A04020102020204" pitchFamily="34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251" y="2060079"/>
            <a:ext cx="125016" cy="1428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0423" y="2053828"/>
            <a:ext cx="1596628" cy="323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Arial Black" panose="020B0A04020102020204" pitchFamily="34" charset="0"/>
                <a:ea typeface="Inter SemiBold" pitchFamily="34" charset="-122"/>
                <a:cs typeface="Inter SemiBold" pitchFamily="34" charset="-120"/>
              </a:rPr>
              <a:t>Fact Tables (Sensor Data)</a:t>
            </a:r>
            <a:endParaRPr lang="en-US" sz="1050" dirty="0">
              <a:latin typeface="Arial Black" panose="020B0A040201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58283" y="2392594"/>
            <a:ext cx="3429000" cy="323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AI4I, SCANIA, MetroPT3, and Pump measurements.</a:t>
            </a:r>
            <a:endParaRPr lang="en-US" sz="1050" dirty="0">
              <a:latin typeface="Arial Black" panose="020B0A04020102020204" pitchFamily="34" charset="0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251" y="2736949"/>
            <a:ext cx="142875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58283" y="2736949"/>
            <a:ext cx="1308050" cy="1615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Arial Black" panose="020B0A04020102020204" pitchFamily="34" charset="0"/>
                <a:ea typeface="Inter SemiBold" pitchFamily="34" charset="-122"/>
                <a:cs typeface="Inter SemiBold" pitchFamily="34" charset="-120"/>
              </a:rPr>
              <a:t>Dimension Tables</a:t>
            </a:r>
            <a:endParaRPr lang="en-US" sz="1050" dirty="0">
              <a:latin typeface="Arial Black" panose="020B0A0402010202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844033" y="2928938"/>
            <a:ext cx="2964656" cy="323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buSzPct val="100000"/>
              <a:buChar char="•"/>
            </a:pPr>
            <a:r>
              <a:rPr lang="en-US" sz="1050" b="1" dirty="0">
                <a:solidFill>
                  <a:srgbClr val="64748B"/>
                </a:solidFill>
                <a:latin typeface="Arial Black" panose="020B0A04020102020204" pitchFamily="34" charset="0"/>
                <a:ea typeface="Inter SemiBold" pitchFamily="34" charset="-122"/>
                <a:cs typeface="Inter SemiBold" pitchFamily="34" charset="-120"/>
              </a:rPr>
              <a:t>DimEquipment:</a:t>
            </a:r>
            <a:r>
              <a:rPr lang="en-US" sz="1050" dirty="0">
                <a:solidFill>
                  <a:srgbClr val="64748B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Machine metadata &amp; source.</a:t>
            </a:r>
            <a:endParaRPr lang="en-US" sz="1050" dirty="0">
              <a:latin typeface="Arial Black" panose="020B0A04020102020204" pitchFamily="34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844033" y="3252103"/>
            <a:ext cx="2964656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buSzPct val="100000"/>
              <a:buChar char="•"/>
            </a:pPr>
            <a:r>
              <a:rPr lang="en-US" sz="1050" b="1" dirty="0">
                <a:solidFill>
                  <a:srgbClr val="64748B"/>
                </a:solidFill>
                <a:latin typeface="Arial Black" panose="020B0A04020102020204" pitchFamily="34" charset="0"/>
                <a:ea typeface="Inter SemiBold" pitchFamily="34" charset="-122"/>
                <a:cs typeface="Inter SemiBold" pitchFamily="34" charset="-120"/>
              </a:rPr>
              <a:t>DimTime:</a:t>
            </a:r>
            <a:r>
              <a:rPr lang="en-US" sz="1050" dirty="0">
                <a:solidFill>
                  <a:srgbClr val="64748B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Standardized temporal keys.</a:t>
            </a:r>
            <a:endParaRPr lang="en-US" sz="1050" dirty="0">
              <a:latin typeface="Arial Black" panose="020B0A04020102020204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844033" y="3441501"/>
            <a:ext cx="2964656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buSzPct val="100000"/>
              <a:buChar char="•"/>
            </a:pPr>
            <a:r>
              <a:rPr lang="en-US" sz="1050" b="1" dirty="0">
                <a:solidFill>
                  <a:srgbClr val="64748B"/>
                </a:solidFill>
                <a:latin typeface="Arial Black" panose="020B0A04020102020204" pitchFamily="34" charset="0"/>
                <a:ea typeface="Inter SemiBold" pitchFamily="34" charset="-122"/>
                <a:cs typeface="Inter SemiBold" pitchFamily="34" charset="-120"/>
              </a:rPr>
              <a:t>DimFailureType:</a:t>
            </a:r>
            <a:r>
              <a:rPr lang="en-US" sz="1050" dirty="0">
                <a:solidFill>
                  <a:srgbClr val="64748B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Unified failure labels.</a:t>
            </a:r>
            <a:endParaRPr lang="en-US" sz="1050" dirty="0">
              <a:latin typeface="Arial Black" panose="020B0A04020102020204" pitchFamily="34" charset="0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4714875" y="1132284"/>
            <a:ext cx="3857625" cy="3228975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714875" y="1132284"/>
            <a:ext cx="3857625" cy="3571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4"/>
          <p:cNvSpPr/>
          <p:nvPr/>
        </p:nvSpPr>
        <p:spPr>
          <a:xfrm>
            <a:off x="4714875" y="1132284"/>
            <a:ext cx="3857625" cy="267253"/>
          </a:xfrm>
          <a:prstGeom prst="rect">
            <a:avLst/>
          </a:prstGeom>
          <a:noFill/>
          <a:ln/>
        </p:spPr>
        <p:txBody>
          <a:bodyPr wrap="square" lIns="170053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SQL IMPLEMENTATION EXAMPLE</a:t>
            </a:r>
            <a:endParaRPr lang="en-US" sz="900" dirty="0">
              <a:latin typeface="Arial Black" panose="020B0A04020102020204" pitchFamily="34" charset="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4893469" y="1668066"/>
            <a:ext cx="3500438" cy="231457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6"/>
          <p:cNvSpPr/>
          <p:nvPr/>
        </p:nvSpPr>
        <p:spPr>
          <a:xfrm>
            <a:off x="4893469" y="1668066"/>
            <a:ext cx="3500438" cy="28575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17"/>
          <p:cNvSpPr/>
          <p:nvPr/>
        </p:nvSpPr>
        <p:spPr>
          <a:xfrm>
            <a:off x="4893469" y="1668066"/>
            <a:ext cx="3500438" cy="1932901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00" dirty="0">
                <a:solidFill>
                  <a:srgbClr val="059669"/>
                </a:solidFill>
                <a:latin typeface="Arial Black" panose="020B0A04020102020204" pitchFamily="34" charset="0"/>
                <a:ea typeface="Fira Code" pitchFamily="34" charset="-122"/>
                <a:cs typeface="Fira Code" pitchFamily="34" charset="-120"/>
              </a:rPr>
              <a:t>CREATE TABLE</a:t>
            </a:r>
            <a:r>
              <a:rPr lang="en-US" sz="750" dirty="0">
                <a:solidFill>
                  <a:srgbClr val="F8FAFC"/>
                </a:solidFill>
                <a:latin typeface="Arial Black" panose="020B0A04020102020204" pitchFamily="34" charset="0"/>
                <a:ea typeface="Fira Code" pitchFamily="34" charset="-122"/>
                <a:cs typeface="Fira Code" pitchFamily="34" charset="-120"/>
              </a:rPr>
              <a:t> maintenance.DimEquipment (
equipment_key </a:t>
            </a:r>
            <a:r>
              <a:rPr lang="en-US" sz="750" dirty="0">
                <a:solidFill>
                  <a:srgbClr val="94A3B8"/>
                </a:solidFill>
                <a:latin typeface="Arial Black" panose="020B0A04020102020204" pitchFamily="34" charset="0"/>
                <a:ea typeface="Fira Code" pitchFamily="34" charset="-122"/>
                <a:cs typeface="Fira Code" pitchFamily="34" charset="-120"/>
              </a:rPr>
              <a:t>SERIAL PRIMARY KEY</a:t>
            </a:r>
            <a:r>
              <a:rPr lang="en-US" sz="750" dirty="0">
                <a:solidFill>
                  <a:srgbClr val="F8FAFC"/>
                </a:solidFill>
                <a:latin typeface="Arial Black" panose="020B0A04020102020204" pitchFamily="34" charset="0"/>
                <a:ea typeface="Fira Code" pitchFamily="34" charset="-122"/>
                <a:cs typeface="Fira Code" pitchFamily="34" charset="-120"/>
              </a:rPr>
              <a:t>,
equipment_type </a:t>
            </a:r>
            <a:r>
              <a:rPr lang="en-US" sz="750" dirty="0">
                <a:solidFill>
                  <a:srgbClr val="94A3B8"/>
                </a:solidFill>
                <a:latin typeface="Arial Black" panose="020B0A04020102020204" pitchFamily="34" charset="0"/>
                <a:ea typeface="Fira Code" pitchFamily="34" charset="-122"/>
                <a:cs typeface="Fira Code" pitchFamily="34" charset="-120"/>
              </a:rPr>
              <a:t>VARCHAR(50)</a:t>
            </a:r>
            <a:r>
              <a:rPr lang="en-US" sz="750" dirty="0">
                <a:solidFill>
                  <a:srgbClr val="F8FAFC"/>
                </a:solidFill>
                <a:latin typeface="Arial Black" panose="020B0A04020102020204" pitchFamily="34" charset="0"/>
                <a:ea typeface="Fira Code" pitchFamily="34" charset="-122"/>
                <a:cs typeface="Fira Code" pitchFamily="34" charset="-120"/>
              </a:rPr>
              <a:t>,
manufacturer </a:t>
            </a:r>
            <a:r>
              <a:rPr lang="en-US" sz="750" dirty="0">
                <a:solidFill>
                  <a:srgbClr val="94A3B8"/>
                </a:solidFill>
                <a:latin typeface="Arial Black" panose="020B0A04020102020204" pitchFamily="34" charset="0"/>
                <a:ea typeface="Fira Code" pitchFamily="34" charset="-122"/>
                <a:cs typeface="Fira Code" pitchFamily="34" charset="-120"/>
              </a:rPr>
              <a:t>VARCHAR(100)</a:t>
            </a:r>
            <a:r>
              <a:rPr lang="en-US" sz="750" dirty="0">
                <a:solidFill>
                  <a:srgbClr val="F8FAFC"/>
                </a:solidFill>
                <a:latin typeface="Arial Black" panose="020B0A04020102020204" pitchFamily="34" charset="0"/>
                <a:ea typeface="Fira Code" pitchFamily="34" charset="-122"/>
                <a:cs typeface="Fira Code" pitchFamily="34" charset="-120"/>
              </a:rPr>
              <a:t>,
source_system </a:t>
            </a:r>
            <a:r>
              <a:rPr lang="en-US" sz="750" dirty="0">
                <a:solidFill>
                  <a:srgbClr val="94A3B8"/>
                </a:solidFill>
                <a:latin typeface="Arial Black" panose="020B0A04020102020204" pitchFamily="34" charset="0"/>
                <a:ea typeface="Fira Code" pitchFamily="34" charset="-122"/>
                <a:cs typeface="Fira Code" pitchFamily="34" charset="-120"/>
              </a:rPr>
              <a:t>VARCHAR(20)</a:t>
            </a:r>
            <a:r>
              <a:rPr lang="en-US" sz="750" dirty="0">
                <a:solidFill>
                  <a:srgbClr val="F8FAFC"/>
                </a:solidFill>
                <a:latin typeface="Arial Black" panose="020B0A04020102020204" pitchFamily="34" charset="0"/>
                <a:ea typeface="Fira Code" pitchFamily="34" charset="-122"/>
                <a:cs typeface="Fira Code" pitchFamily="34" charset="-120"/>
              </a:rPr>
              <a:t>
);
 </a:t>
            </a:r>
            <a:r>
              <a:rPr lang="en-US" sz="700" dirty="0">
                <a:solidFill>
                  <a:srgbClr val="059669"/>
                </a:solidFill>
                <a:latin typeface="Arial Black" panose="020B0A04020102020204" pitchFamily="34" charset="0"/>
                <a:ea typeface="Fira Code" pitchFamily="34" charset="-122"/>
                <a:cs typeface="Fira Code" pitchFamily="34" charset="-120"/>
              </a:rPr>
              <a:t>CREATE TABLE</a:t>
            </a:r>
            <a:r>
              <a:rPr lang="en-US" sz="750" dirty="0">
                <a:solidFill>
                  <a:srgbClr val="F8FAFC"/>
                </a:solidFill>
                <a:latin typeface="Arial Black" panose="020B0A04020102020204" pitchFamily="34" charset="0"/>
                <a:ea typeface="Fira Code" pitchFamily="34" charset="-122"/>
                <a:cs typeface="Fira Code" pitchFamily="34" charset="-120"/>
              </a:rPr>
              <a:t> maintenance.FactPump (
pump_id </a:t>
            </a:r>
            <a:r>
              <a:rPr lang="en-US" sz="750" dirty="0">
                <a:solidFill>
                  <a:srgbClr val="94A3B8"/>
                </a:solidFill>
                <a:latin typeface="Arial Black" panose="020B0A04020102020204" pitchFamily="34" charset="0"/>
                <a:ea typeface="Fira Code" pitchFamily="34" charset="-122"/>
                <a:cs typeface="Fira Code" pitchFamily="34" charset="-120"/>
              </a:rPr>
              <a:t>BIGSERIAL PRIMARY KEY</a:t>
            </a:r>
            <a:r>
              <a:rPr lang="en-US" sz="750" dirty="0">
                <a:solidFill>
                  <a:srgbClr val="F8FAFC"/>
                </a:solidFill>
                <a:latin typeface="Arial Black" panose="020B0A04020102020204" pitchFamily="34" charset="0"/>
                <a:ea typeface="Fira Code" pitchFamily="34" charset="-122"/>
                <a:cs typeface="Fira Code" pitchFamily="34" charset="-120"/>
              </a:rPr>
              <a:t>,
equipment_key </a:t>
            </a:r>
            <a:r>
              <a:rPr lang="en-US" sz="750" dirty="0">
                <a:solidFill>
                  <a:srgbClr val="94A3B8"/>
                </a:solidFill>
                <a:latin typeface="Arial Black" panose="020B0A04020102020204" pitchFamily="34" charset="0"/>
                <a:ea typeface="Fira Code" pitchFamily="34" charset="-122"/>
                <a:cs typeface="Fira Code" pitchFamily="34" charset="-120"/>
              </a:rPr>
              <a:t>INTEGER</a:t>
            </a:r>
            <a:r>
              <a:rPr lang="en-US" sz="750" dirty="0">
                <a:solidFill>
                  <a:srgbClr val="F8FAFC"/>
                </a:solidFill>
                <a:latin typeface="Arial Black" panose="020B0A04020102020204" pitchFamily="34" charset="0"/>
                <a:ea typeface="Fira Code" pitchFamily="34" charset="-122"/>
                <a:cs typeface="Fira Code" pitchFamily="34" charset="-120"/>
              </a:rPr>
              <a:t>,
temperature </a:t>
            </a:r>
            <a:r>
              <a:rPr lang="en-US" sz="750" dirty="0">
                <a:solidFill>
                  <a:srgbClr val="94A3B8"/>
                </a:solidFill>
                <a:latin typeface="Arial Black" panose="020B0A04020102020204" pitchFamily="34" charset="0"/>
                <a:ea typeface="Fira Code" pitchFamily="34" charset="-122"/>
                <a:cs typeface="Fira Code" pitchFamily="34" charset="-120"/>
              </a:rPr>
              <a:t>FLOAT</a:t>
            </a:r>
            <a:r>
              <a:rPr lang="en-US" sz="750" dirty="0">
                <a:solidFill>
                  <a:srgbClr val="F8FAFC"/>
                </a:solidFill>
                <a:latin typeface="Arial Black" panose="020B0A04020102020204" pitchFamily="34" charset="0"/>
                <a:ea typeface="Fira Code" pitchFamily="34" charset="-122"/>
                <a:cs typeface="Fira Code" pitchFamily="34" charset="-120"/>
              </a:rPr>
              <a:t>,
is_failing </a:t>
            </a:r>
            <a:r>
              <a:rPr lang="en-US" sz="750" dirty="0">
                <a:solidFill>
                  <a:srgbClr val="94A3B8"/>
                </a:solidFill>
                <a:latin typeface="Arial Black" panose="020B0A04020102020204" pitchFamily="34" charset="0"/>
                <a:ea typeface="Fira Code" pitchFamily="34" charset="-122"/>
                <a:cs typeface="Fira Code" pitchFamily="34" charset="-120"/>
              </a:rPr>
              <a:t>BOOLEAN</a:t>
            </a:r>
            <a:r>
              <a:rPr lang="en-US" sz="750" dirty="0">
                <a:solidFill>
                  <a:srgbClr val="F8FAFC"/>
                </a:solidFill>
                <a:latin typeface="Arial Black" panose="020B0A04020102020204" pitchFamily="34" charset="0"/>
                <a:ea typeface="Fira Code" pitchFamily="34" charset="-122"/>
                <a:cs typeface="Fira Code" pitchFamily="34" charset="-120"/>
              </a:rPr>
              <a:t>
);</a:t>
            </a:r>
            <a:endParaRPr lang="en-US" sz="75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580" y="1017748"/>
            <a:ext cx="1869904" cy="113107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dirty="0">
                <a:solidFill>
                  <a:srgbClr val="1E293B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GALAXY SCHEMA DESIGN</a:t>
            </a:r>
            <a:endParaRPr lang="en-US" sz="2450" dirty="0">
              <a:latin typeface="Arial Black" panose="020B0A04020102020204" pitchFamily="34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707" y="0"/>
            <a:ext cx="6175661" cy="50981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702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dirty="0">
                <a:solidFill>
                  <a:srgbClr val="1E293B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PROPOSED CLASSIFICATION MODELS</a:t>
            </a:r>
            <a:endParaRPr lang="en-US" sz="2450" dirty="0">
              <a:latin typeface="Arial Black" panose="020B0A040201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499" y="1178718"/>
            <a:ext cx="3929063" cy="1228725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1499" y="1178718"/>
            <a:ext cx="3929063" cy="30003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571499" y="1178718"/>
            <a:ext cx="3929063" cy="241605"/>
          </a:xfrm>
          <a:prstGeom prst="rect">
            <a:avLst/>
          </a:prstGeom>
          <a:noFill/>
          <a:ln/>
        </p:spPr>
        <p:txBody>
          <a:bodyPr wrap="square" lIns="170053" tIns="1021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ENSEMBLE METHODS</a:t>
            </a:r>
            <a:endParaRPr lang="en-US" sz="900" dirty="0">
              <a:latin typeface="Arial Black" panose="020B0A04020102020204" pitchFamily="3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99" y="1586805"/>
            <a:ext cx="128588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85824" y="1564481"/>
            <a:ext cx="1803797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Arial Black" panose="020B0A04020102020204" pitchFamily="34" charset="0"/>
                <a:ea typeface="Inter SemiBold" pitchFamily="34" charset="-122"/>
                <a:cs typeface="Inter SemiBold" pitchFamily="34" charset="-120"/>
              </a:rPr>
              <a:t>Random Forest &amp; XGBoost</a:t>
            </a:r>
            <a:endParaRPr lang="en-US" sz="1000" dirty="0">
              <a:latin typeface="Arial Black" panose="020B0A040201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685799" y="1938032"/>
            <a:ext cx="3700463" cy="303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Handles complex nonlinear relationships and is robust to noise and missing data in industrial sensor streams.</a:t>
            </a:r>
            <a:endParaRPr lang="en-US" sz="850" dirty="0">
              <a:latin typeface="Arial Black" panose="020B0A04020102020204" pitchFamily="34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4643437" y="1178718"/>
            <a:ext cx="3929063" cy="1228725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43437" y="1178718"/>
            <a:ext cx="3929063" cy="30003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8"/>
          <p:cNvSpPr/>
          <p:nvPr/>
        </p:nvSpPr>
        <p:spPr>
          <a:xfrm>
            <a:off x="4643437" y="1178718"/>
            <a:ext cx="3929063" cy="241605"/>
          </a:xfrm>
          <a:prstGeom prst="rect">
            <a:avLst/>
          </a:prstGeom>
          <a:noFill/>
          <a:ln/>
        </p:spPr>
        <p:txBody>
          <a:bodyPr wrap="square" lIns="170053" tIns="1021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BASELINE MODELS</a:t>
            </a:r>
            <a:endParaRPr lang="en-US" sz="900" dirty="0">
              <a:latin typeface="Arial Black" panose="020B0A04020102020204" pitchFamily="34" charset="0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7737" y="1586805"/>
            <a:ext cx="112514" cy="1285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41688" y="1564481"/>
            <a:ext cx="2134676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Arial Black" panose="020B0A04020102020204" pitchFamily="34" charset="0"/>
                <a:ea typeface="Inter SemiBold" pitchFamily="34" charset="-122"/>
                <a:cs typeface="Inter SemiBold" pitchFamily="34" charset="-120"/>
              </a:rPr>
              <a:t>Logistic Regression</a:t>
            </a:r>
            <a:endParaRPr lang="en-US" sz="1000" dirty="0">
              <a:latin typeface="Arial Black" panose="020B0A04020102020204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4757737" y="1850425"/>
            <a:ext cx="3700463" cy="303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Provides a simple, highly interpretable baseline to establish performance benchmarks for failure prediction.</a:t>
            </a:r>
            <a:endParaRPr lang="en-US" sz="850" dirty="0">
              <a:latin typeface="Arial Black" panose="020B0A04020102020204" pitchFamily="34" charset="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571499" y="2536031"/>
            <a:ext cx="3929063" cy="1228725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71499" y="2536031"/>
            <a:ext cx="3929063" cy="30003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3"/>
          <p:cNvSpPr/>
          <p:nvPr/>
        </p:nvSpPr>
        <p:spPr>
          <a:xfrm>
            <a:off x="571499" y="2536031"/>
            <a:ext cx="3929063" cy="241605"/>
          </a:xfrm>
          <a:prstGeom prst="rect">
            <a:avLst/>
          </a:prstGeom>
          <a:noFill/>
          <a:ln/>
        </p:spPr>
        <p:txBody>
          <a:bodyPr wrap="square" lIns="170053" tIns="1021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SIMILARITY-BASED</a:t>
            </a:r>
            <a:endParaRPr lang="en-US" sz="900" dirty="0">
              <a:latin typeface="Arial Black" panose="020B0A04020102020204" pitchFamily="34" charset="0"/>
            </a:endParaRPr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799" y="2944117"/>
            <a:ext cx="144661" cy="1285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1897" y="2921793"/>
            <a:ext cx="1944886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Arial Black" panose="020B0A04020102020204" pitchFamily="34" charset="0"/>
                <a:ea typeface="Inter SemiBold" pitchFamily="34" charset="-122"/>
                <a:cs typeface="Inter SemiBold" pitchFamily="34" charset="-120"/>
              </a:rPr>
              <a:t>k-Nearest Neighbors (k-NN)</a:t>
            </a:r>
            <a:endParaRPr lang="en-US" sz="1000" dirty="0">
              <a:latin typeface="Arial Black" panose="020B0A04020102020204" pitchFamily="34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685799" y="3152179"/>
            <a:ext cx="3700463" cy="303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Captures failure patterns by identifying similarities between current sensor readings and historical failure states.</a:t>
            </a:r>
            <a:endParaRPr lang="en-US" sz="850" dirty="0">
              <a:latin typeface="Arial Black" panose="020B0A04020102020204" pitchFamily="34" charset="0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4643437" y="2536031"/>
            <a:ext cx="3929063" cy="1228725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643437" y="2536031"/>
            <a:ext cx="3929063" cy="30003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18"/>
          <p:cNvSpPr/>
          <p:nvPr/>
        </p:nvSpPr>
        <p:spPr>
          <a:xfrm>
            <a:off x="4643437" y="2536031"/>
            <a:ext cx="3929063" cy="241605"/>
          </a:xfrm>
          <a:prstGeom prst="rect">
            <a:avLst/>
          </a:prstGeom>
          <a:noFill/>
          <a:ln/>
        </p:spPr>
        <p:txBody>
          <a:bodyPr wrap="square" lIns="170053" tIns="1021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EFFICIENCY-FOCUSED</a:t>
            </a:r>
            <a:endParaRPr lang="en-US" sz="900" dirty="0">
              <a:latin typeface="Arial Black" panose="020B0A04020102020204" pitchFamily="34" charset="0"/>
            </a:endParaRPr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7737" y="2944117"/>
            <a:ext cx="96441" cy="1285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925615" y="2921793"/>
            <a:ext cx="86882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Arial Black" panose="020B0A04020102020204" pitchFamily="34" charset="0"/>
                <a:ea typeface="Inter SemiBold" pitchFamily="34" charset="-122"/>
                <a:cs typeface="Inter SemiBold" pitchFamily="34" charset="-120"/>
              </a:rPr>
              <a:t>Naive Bayes</a:t>
            </a:r>
            <a:endParaRPr lang="en-US" sz="1000" dirty="0">
              <a:latin typeface="Arial Black" panose="020B0A04020102020204" pitchFamily="34" charset="0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4757737" y="3152179"/>
            <a:ext cx="3700463" cy="303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Fast and computationally efficient, making it suitable for processing large-scale, high-frequency industrial datasets.</a:t>
            </a:r>
            <a:endParaRPr lang="en-US" sz="850" dirty="0">
              <a:latin typeface="Arial Black" panose="020B0A04020102020204" pitchFamily="34" charset="0"/>
            </a:endParaRPr>
          </a:p>
        </p:txBody>
      </p:sp>
      <p:sp>
        <p:nvSpPr>
          <p:cNvPr id="28" name="Shape 21"/>
          <p:cNvSpPr/>
          <p:nvPr/>
        </p:nvSpPr>
        <p:spPr>
          <a:xfrm>
            <a:off x="571499" y="3893343"/>
            <a:ext cx="8001000" cy="3893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9" name="Shape 22"/>
          <p:cNvSpPr/>
          <p:nvPr/>
        </p:nvSpPr>
        <p:spPr>
          <a:xfrm>
            <a:off x="571499" y="3893343"/>
            <a:ext cx="8001000" cy="7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499" y="4032646"/>
            <a:ext cx="214313" cy="17145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28687" y="3964781"/>
            <a:ext cx="764381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Arial Black" panose="020B0A04020102020204" pitchFamily="34" charset="0"/>
                <a:ea typeface="Inter SemiBold" pitchFamily="34" charset="-122"/>
                <a:cs typeface="Inter SemiBold" pitchFamily="34" charset="-120"/>
              </a:rPr>
              <a:t>Key Consideration: Models must handle imbalanced data effectively, as failure events are rare compared to normal operations.</a:t>
            </a:r>
            <a:endParaRPr lang="en-US" sz="9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702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dirty="0">
                <a:solidFill>
                  <a:srgbClr val="1E293B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METHODOLOGY PIPELINE</a:t>
            </a:r>
            <a:endParaRPr lang="en-US" sz="2450" dirty="0">
              <a:latin typeface="Arial Black" panose="020B0A040201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85750" y="1418034"/>
            <a:ext cx="1585913" cy="2300288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85750" y="1418034"/>
            <a:ext cx="1571625" cy="21431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285750" y="1418034"/>
            <a:ext cx="1571625" cy="150682"/>
          </a:xfrm>
          <a:prstGeom prst="rect">
            <a:avLst/>
          </a:prstGeom>
          <a:noFill/>
          <a:ln/>
        </p:spPr>
        <p:txBody>
          <a:bodyPr wrap="square" lIns="85090" tIns="42545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STEP 01</a:t>
            </a:r>
            <a:endParaRPr lang="en-US" sz="700" dirty="0">
              <a:latin typeface="Arial Black" panose="020B0A04020102020204" pitchFamily="3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88" y="1796653"/>
            <a:ext cx="28575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2906" y="2240517"/>
            <a:ext cx="1357313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DATA PREPARATION</a:t>
            </a:r>
            <a:endParaRPr lang="en-US" sz="800" dirty="0">
              <a:latin typeface="Arial Black" panose="020B0A040201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392906" y="2552105"/>
            <a:ext cx="1357313" cy="510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Rigorous cleaning to remove noise and handle missing values from industrial sensors.</a:t>
            </a:r>
            <a:endParaRPr lang="en-US" sz="750" dirty="0">
              <a:latin typeface="Arial Black" panose="020B0A04020102020204" pitchFamily="34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5950" y="2505670"/>
            <a:ext cx="107156" cy="17145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021681" y="1418034"/>
            <a:ext cx="1585913" cy="2300288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2025253" y="1418034"/>
            <a:ext cx="1571625" cy="21431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8"/>
          <p:cNvSpPr/>
          <p:nvPr/>
        </p:nvSpPr>
        <p:spPr>
          <a:xfrm>
            <a:off x="2025253" y="1418034"/>
            <a:ext cx="1571625" cy="150682"/>
          </a:xfrm>
          <a:prstGeom prst="rect">
            <a:avLst/>
          </a:prstGeom>
          <a:noFill/>
          <a:ln/>
        </p:spPr>
        <p:txBody>
          <a:bodyPr wrap="square" lIns="85090" tIns="42545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STEP 02</a:t>
            </a:r>
            <a:endParaRPr lang="en-US" sz="700" dirty="0">
              <a:latin typeface="Arial Black" panose="020B0A04020102020204" pitchFamily="34" charset="0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8191" y="1796653"/>
            <a:ext cx="28575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132409" y="2178962"/>
            <a:ext cx="1357313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FEATURE ENGINEERING</a:t>
            </a:r>
            <a:endParaRPr lang="en-US" sz="800" dirty="0">
              <a:latin typeface="Arial Black" panose="020B0A04020102020204" pitchFamily="34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2132409" y="2552105"/>
            <a:ext cx="1357313" cy="510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Creating rolling statistics and time-window aggregations to capture temporal patterns.</a:t>
            </a:r>
            <a:endParaRPr lang="en-US" sz="750" dirty="0">
              <a:latin typeface="Arial Black" panose="020B0A04020102020204" pitchFamily="34" charset="0"/>
            </a:endParaRPr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7239" y="2505670"/>
            <a:ext cx="107156" cy="17145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3764756" y="1418034"/>
            <a:ext cx="1585913" cy="2300288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3771900" y="1418034"/>
            <a:ext cx="1571625" cy="21431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3"/>
          <p:cNvSpPr/>
          <p:nvPr/>
        </p:nvSpPr>
        <p:spPr>
          <a:xfrm>
            <a:off x="3771900" y="1418034"/>
            <a:ext cx="1571625" cy="150682"/>
          </a:xfrm>
          <a:prstGeom prst="rect">
            <a:avLst/>
          </a:prstGeom>
          <a:noFill/>
          <a:ln/>
        </p:spPr>
        <p:txBody>
          <a:bodyPr wrap="square" lIns="85090" tIns="42545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STEP 03</a:t>
            </a:r>
            <a:endParaRPr lang="en-US" sz="700" dirty="0">
              <a:latin typeface="Arial Black" panose="020B0A04020102020204" pitchFamily="34" charset="0"/>
            </a:endParaRPr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3413" y="1796653"/>
            <a:ext cx="228600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879056" y="2240517"/>
            <a:ext cx="1357313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MODEL TRAINING</a:t>
            </a:r>
            <a:endParaRPr lang="en-US" sz="800" dirty="0">
              <a:latin typeface="Arial Black" panose="020B0A04020102020204" pitchFamily="34" charset="0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3879056" y="2552105"/>
            <a:ext cx="1357313" cy="510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Implementing robust train/test splits to ensure generalizability across machines.</a:t>
            </a:r>
            <a:endParaRPr lang="en-US" sz="750" dirty="0">
              <a:latin typeface="Arial Black" panose="020B0A04020102020204" pitchFamily="34" charset="0"/>
            </a:endParaRPr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5672" y="2505670"/>
            <a:ext cx="107156" cy="17145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5514975" y="1418034"/>
            <a:ext cx="1585913" cy="2300288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/>
            </a:solidFill>
            <a:prstDash val="solid"/>
          </a:ln>
        </p:spPr>
      </p:sp>
      <p:sp>
        <p:nvSpPr>
          <p:cNvPr id="26" name="Shape 17"/>
          <p:cNvSpPr/>
          <p:nvPr/>
        </p:nvSpPr>
        <p:spPr>
          <a:xfrm>
            <a:off x="5525691" y="1418034"/>
            <a:ext cx="1571625" cy="21431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18"/>
          <p:cNvSpPr/>
          <p:nvPr/>
        </p:nvSpPr>
        <p:spPr>
          <a:xfrm>
            <a:off x="5525691" y="1418034"/>
            <a:ext cx="1571625" cy="150682"/>
          </a:xfrm>
          <a:prstGeom prst="rect">
            <a:avLst/>
          </a:prstGeom>
          <a:noFill/>
          <a:ln/>
        </p:spPr>
        <p:txBody>
          <a:bodyPr wrap="square" lIns="85090" tIns="42545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STEP 04</a:t>
            </a:r>
            <a:endParaRPr lang="en-US" sz="700" dirty="0">
              <a:latin typeface="Arial Black" panose="020B0A04020102020204" pitchFamily="34" charset="0"/>
            </a:endParaRPr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7203" y="1796653"/>
            <a:ext cx="228600" cy="22860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632847" y="2240517"/>
            <a:ext cx="1357313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EVALUATION</a:t>
            </a:r>
            <a:endParaRPr lang="en-US" sz="800" dirty="0">
              <a:latin typeface="Arial Black" panose="020B0A04020102020204" pitchFamily="34" charset="0"/>
            </a:endParaRPr>
          </a:p>
        </p:txBody>
      </p:sp>
      <p:sp>
        <p:nvSpPr>
          <p:cNvPr id="30" name="Text 20"/>
          <p:cNvSpPr/>
          <p:nvPr/>
        </p:nvSpPr>
        <p:spPr>
          <a:xfrm>
            <a:off x="5632847" y="2552105"/>
            <a:ext cx="1357313" cy="510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Prioritizing Recall to ensure all potential failure cases are detected accurately.</a:t>
            </a:r>
            <a:endParaRPr lang="en-US" sz="750" dirty="0">
              <a:latin typeface="Arial Black" panose="020B0A04020102020204" pitchFamily="34" charset="0"/>
            </a:endParaRPr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1248" y="2505670"/>
            <a:ext cx="107156" cy="171450"/>
          </a:xfrm>
          <a:prstGeom prst="rect">
            <a:avLst/>
          </a:prstGeom>
        </p:spPr>
      </p:pic>
      <p:sp>
        <p:nvSpPr>
          <p:cNvPr id="32" name="Shape 21"/>
          <p:cNvSpPr/>
          <p:nvPr/>
        </p:nvSpPr>
        <p:spPr>
          <a:xfrm>
            <a:off x="7272338" y="1418034"/>
            <a:ext cx="1585913" cy="2300288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/>
            </a:solidFill>
            <a:prstDash val="solid"/>
          </a:ln>
        </p:spPr>
      </p:sp>
      <p:sp>
        <p:nvSpPr>
          <p:cNvPr id="33" name="Shape 22"/>
          <p:cNvSpPr/>
          <p:nvPr/>
        </p:nvSpPr>
        <p:spPr>
          <a:xfrm>
            <a:off x="7286625" y="1418034"/>
            <a:ext cx="1571625" cy="21431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Text 23"/>
          <p:cNvSpPr/>
          <p:nvPr/>
        </p:nvSpPr>
        <p:spPr>
          <a:xfrm>
            <a:off x="7286625" y="1418034"/>
            <a:ext cx="1571625" cy="150682"/>
          </a:xfrm>
          <a:prstGeom prst="rect">
            <a:avLst/>
          </a:prstGeom>
          <a:noFill/>
          <a:ln/>
        </p:spPr>
        <p:txBody>
          <a:bodyPr wrap="square" lIns="85090" tIns="42545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STEP 05</a:t>
            </a:r>
            <a:endParaRPr lang="en-US" sz="700" dirty="0">
              <a:latin typeface="Arial Black" panose="020B0A04020102020204" pitchFamily="34" charset="0"/>
            </a:endParaRPr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72425" y="1796653"/>
            <a:ext cx="200025" cy="22860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7393781" y="2240517"/>
            <a:ext cx="1357313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DEPLOYMENT</a:t>
            </a:r>
            <a:endParaRPr lang="en-US" sz="800" dirty="0">
              <a:latin typeface="Arial Black" panose="020B0A04020102020204" pitchFamily="34" charset="0"/>
            </a:endParaRPr>
          </a:p>
        </p:txBody>
      </p:sp>
      <p:sp>
        <p:nvSpPr>
          <p:cNvPr id="37" name="Text 25"/>
          <p:cNvSpPr/>
          <p:nvPr/>
        </p:nvSpPr>
        <p:spPr>
          <a:xfrm>
            <a:off x="7393781" y="2552105"/>
            <a:ext cx="1357313" cy="380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Integrating model outputs into dashboards for real-time maintenance alerts.</a:t>
            </a:r>
            <a:endParaRPr lang="en-US" sz="75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75405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dirty="0">
                <a:solidFill>
                  <a:srgbClr val="1E293B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EVALUATION METRICS FOR
IMBALANCED DATA</a:t>
            </a:r>
            <a:endParaRPr lang="en-US" sz="2450" dirty="0">
              <a:latin typeface="Arial Black" panose="020B0A040201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1407319"/>
            <a:ext cx="3936206" cy="1100138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493937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1550" y="1493044"/>
            <a:ext cx="1394817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RECALL (CRITICAL)</a:t>
            </a:r>
            <a:endParaRPr lang="en-US" sz="1000" dirty="0">
              <a:latin typeface="Arial Black" panose="020B0A040201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714375" y="1752005"/>
            <a:ext cx="3650456" cy="4603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Prioritized to ensure all potential failure cases are detected. In predictive maintenance, missing a failure is more costly than a false alarm.</a:t>
            </a:r>
            <a:endParaRPr lang="en-US" sz="850" dirty="0">
              <a:latin typeface="Arial Black" panose="020B0A04020102020204" pitchFamily="34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4636294" y="1407319"/>
            <a:ext cx="3936206" cy="1100138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9169" y="1493937"/>
            <a:ext cx="171450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36344" y="1493044"/>
            <a:ext cx="791883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PRECISION</a:t>
            </a:r>
            <a:endParaRPr lang="en-US" sz="1000" dirty="0">
              <a:latin typeface="Arial Black" panose="020B0A04020102020204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4779169" y="1752005"/>
            <a:ext cx="3650456" cy="303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Balanced to avoid "alarm fatigue" and unnecessary maintenance costs caused by frequent false positives.</a:t>
            </a:r>
            <a:endParaRPr lang="en-US" sz="850" dirty="0">
              <a:latin typeface="Arial Black" panose="020B0A04020102020204" pitchFamily="34" charset="0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571500" y="2621756"/>
            <a:ext cx="3936206" cy="1100138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2708374"/>
            <a:ext cx="214313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14413" y="2707481"/>
            <a:ext cx="705321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F1-SCORE</a:t>
            </a:r>
            <a:endParaRPr lang="en-US" sz="1000" dirty="0">
              <a:latin typeface="Arial Black" panose="020B0A04020102020204" pitchFamily="3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714375" y="2966442"/>
            <a:ext cx="3650456" cy="4603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Provides a single harmonic mean of precision and recall, offering a balanced view of model performance on imbalanced classes.</a:t>
            </a:r>
            <a:endParaRPr lang="en-US" sz="850" dirty="0">
              <a:latin typeface="Arial Black" panose="020B0A04020102020204" pitchFamily="34" charset="0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4636294" y="2621756"/>
            <a:ext cx="3936206" cy="1100138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9169" y="2708374"/>
            <a:ext cx="171450" cy="1714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36344" y="2707481"/>
            <a:ext cx="655629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ROC-AUC</a:t>
            </a:r>
            <a:endParaRPr lang="en-US" sz="1000" dirty="0">
              <a:latin typeface="Arial Black" panose="020B0A04020102020204" pitchFamily="34" charset="0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4779169" y="2966442"/>
            <a:ext cx="3650456" cy="303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Measures the model's ability to distinguish between classes across all thresholds, independent of the class distribution.</a:t>
            </a:r>
            <a:endParaRPr lang="en-US" sz="850" dirty="0">
              <a:latin typeface="Arial Black" panose="020B0A04020102020204" pitchFamily="34" charset="0"/>
            </a:endParaRPr>
          </a:p>
        </p:txBody>
      </p:sp>
      <p:sp>
        <p:nvSpPr>
          <p:cNvPr id="20" name="Shape 13"/>
          <p:cNvSpPr/>
          <p:nvPr/>
        </p:nvSpPr>
        <p:spPr>
          <a:xfrm>
            <a:off x="571500" y="3850481"/>
            <a:ext cx="8001000" cy="671513"/>
          </a:xfrm>
          <a:prstGeom prst="rect">
            <a:avLst/>
          </a:prstGeom>
          <a:solidFill>
            <a:srgbClr val="1E293B"/>
          </a:solidFill>
          <a:ln w="9144">
            <a:solidFill>
              <a:srgbClr val="1E293B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785813" y="3936206"/>
            <a:ext cx="7572375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059669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THE IMBALANCE CHALLENGE</a:t>
            </a:r>
            <a:endParaRPr lang="en-US" sz="800" dirty="0">
              <a:latin typeface="Arial Black" panose="020B0A04020102020204" pitchFamily="34" charset="0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785813" y="4146947"/>
            <a:ext cx="7572375" cy="292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Failure events are rare compared to normal operations. Accuracy alone is misleading; a model could achieve 99% accuracy by never predicting a failure.</a:t>
            </a:r>
            <a:endParaRPr lang="en-US" sz="95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75405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dirty="0">
                <a:solidFill>
                  <a:srgbClr val="1E293B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CONCLUSION AND
NEXT STEPS</a:t>
            </a:r>
            <a:endParaRPr lang="en-US" sz="2450" dirty="0">
              <a:latin typeface="Arial Black" panose="020B0A040201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1693069"/>
            <a:ext cx="3857625" cy="2871788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1500" y="1693069"/>
            <a:ext cx="3857625" cy="39290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693069"/>
            <a:ext cx="3857625" cy="282641"/>
          </a:xfrm>
          <a:prstGeom prst="rect">
            <a:avLst/>
          </a:prstGeom>
          <a:noFill/>
          <a:ln/>
        </p:spPr>
        <p:txBody>
          <a:bodyPr wrap="square" lIns="170053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PROJECT ACHIEVEMENTS</a:t>
            </a:r>
            <a:endParaRPr lang="en-US" sz="1000" dirty="0">
              <a:latin typeface="Arial Black" panose="020B0A04020102020204" pitchFamily="3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2300288"/>
            <a:ext cx="128588" cy="16430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1556" y="2300288"/>
            <a:ext cx="3193256" cy="558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 Black" panose="020B0A04020102020204" pitchFamily="34" charset="0"/>
                <a:ea typeface="Inter SemiBold" pitchFamily="34" charset="-122"/>
                <a:cs typeface="Inter SemiBold" pitchFamily="34" charset="-120"/>
              </a:rPr>
              <a:t>Data Integration:</a:t>
            </a:r>
            <a:r>
              <a:rPr lang="en-US" sz="1100" dirty="0">
                <a:solidFill>
                  <a:srgbClr val="64748B"/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 Successfully unified multi-source industrial datasets into a single framework.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3078956"/>
            <a:ext cx="128588" cy="16430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1556" y="3078956"/>
            <a:ext cx="3193256" cy="36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 Black" panose="020B0A04020102020204" pitchFamily="34" charset="0"/>
                <a:ea typeface="Inter SemiBold" pitchFamily="34" charset="-122"/>
                <a:cs typeface="Inter SemiBold" pitchFamily="34" charset="-120"/>
              </a:rPr>
              <a:t>DWH Design:</a:t>
            </a:r>
            <a:r>
              <a:rPr lang="en-US" sz="1100" dirty="0">
                <a:solidFill>
                  <a:srgbClr val="64748B"/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 Established a robust Star Schema for scalable industrial analytics.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3657600"/>
            <a:ext cx="128588" cy="16430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21556" y="3657600"/>
            <a:ext cx="3193256" cy="558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 Black" panose="020B0A04020102020204" pitchFamily="34" charset="0"/>
                <a:ea typeface="Inter SemiBold" pitchFamily="34" charset="-122"/>
                <a:cs typeface="Inter SemiBold" pitchFamily="34" charset="-120"/>
              </a:rPr>
              <a:t>ML Pipeline:</a:t>
            </a:r>
            <a:r>
              <a:rPr lang="en-US" sz="1100" dirty="0">
                <a:solidFill>
                  <a:srgbClr val="64748B"/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 Designed a complete end-to-end pipeline from raw data to deployment.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4714875" y="1693069"/>
            <a:ext cx="3857625" cy="2871788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4714875" y="1693069"/>
            <a:ext cx="3857625" cy="39290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9"/>
          <p:cNvSpPr/>
          <p:nvPr/>
        </p:nvSpPr>
        <p:spPr>
          <a:xfrm>
            <a:off x="4714875" y="1693069"/>
            <a:ext cx="3857625" cy="282641"/>
          </a:xfrm>
          <a:prstGeom prst="rect">
            <a:avLst/>
          </a:prstGeom>
          <a:noFill/>
          <a:ln/>
        </p:spPr>
        <p:txBody>
          <a:bodyPr wrap="square" lIns="170053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Arial Black" panose="020B0A04020102020204" pitchFamily="34" charset="0"/>
                <a:ea typeface="Montserrat SemiBold" pitchFamily="34" charset="-122"/>
                <a:cs typeface="Montserrat SemiBold" pitchFamily="34" charset="-120"/>
              </a:rPr>
              <a:t>NEXT PHASE: IMPLEMENTATION</a:t>
            </a:r>
            <a:endParaRPr lang="en-US" sz="1000" dirty="0">
              <a:latin typeface="Arial Black" panose="020B0A04020102020204" pitchFamily="34" charset="0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2300288"/>
            <a:ext cx="112514" cy="16430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148858" y="2300288"/>
            <a:ext cx="3209330" cy="558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 Black" panose="020B0A04020102020204" pitchFamily="34" charset="0"/>
                <a:ea typeface="Inter SemiBold" pitchFamily="34" charset="-122"/>
                <a:cs typeface="Inter SemiBold" pitchFamily="34" charset="-120"/>
              </a:rPr>
              <a:t>Model Training:</a:t>
            </a:r>
            <a:r>
              <a:rPr lang="en-US" sz="1100" dirty="0">
                <a:solidFill>
                  <a:srgbClr val="64748B"/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 Implementing and comparing the proposed classification algorithms.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2878931"/>
            <a:ext cx="112514" cy="16430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48858" y="2878931"/>
            <a:ext cx="3209330" cy="558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 Black" panose="020B0A04020102020204" pitchFamily="34" charset="0"/>
                <a:ea typeface="Inter SemiBold" pitchFamily="34" charset="-122"/>
                <a:cs typeface="Inter SemiBold" pitchFamily="34" charset="-120"/>
              </a:rPr>
              <a:t>Hyperparameter Tuning:</a:t>
            </a:r>
            <a:r>
              <a:rPr lang="en-US" sz="1100" dirty="0">
                <a:solidFill>
                  <a:srgbClr val="64748B"/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 Optimizing model performance with a focus on Recall.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3457575"/>
            <a:ext cx="112514" cy="164306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148858" y="3457575"/>
            <a:ext cx="3209330" cy="36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 Black" panose="020B0A04020102020204" pitchFamily="34" charset="0"/>
                <a:ea typeface="Inter SemiBold" pitchFamily="34" charset="-122"/>
                <a:cs typeface="Inter SemiBold" pitchFamily="34" charset="-120"/>
              </a:rPr>
              <a:t>Validation:</a:t>
            </a:r>
            <a:r>
              <a:rPr lang="en-US" sz="1100" dirty="0">
                <a:solidFill>
                  <a:srgbClr val="64748B"/>
                </a:solidFill>
                <a:latin typeface="Arial Black" panose="020B0A04020102020204" pitchFamily="34" charset="0"/>
                <a:ea typeface="Inter Light" pitchFamily="34" charset="-122"/>
                <a:cs typeface="Inter Light" pitchFamily="34" charset="-120"/>
              </a:rPr>
              <a:t> Real-world testing and integration into maintenance dashboards.</a:t>
            </a:r>
            <a:endParaRPr lang="en-US" sz="11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</TotalTime>
  <Words>802</Words>
  <Application>Microsoft Office PowerPoint</Application>
  <PresentationFormat>On-screen Show (16:9)</PresentationFormat>
  <Paragraphs>142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Rana Osman</cp:lastModifiedBy>
  <cp:revision>7</cp:revision>
  <dcterms:created xsi:type="dcterms:W3CDTF">2026-04-28T08:59:39Z</dcterms:created>
  <dcterms:modified xsi:type="dcterms:W3CDTF">2026-04-28T22:22:01Z</dcterms:modified>
</cp:coreProperties>
</file>